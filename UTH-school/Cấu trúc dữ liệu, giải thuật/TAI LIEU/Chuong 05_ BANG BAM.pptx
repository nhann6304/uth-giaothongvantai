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71" r:id="rId12"/>
    <p:sldId id="265" r:id="rId13"/>
    <p:sldId id="266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Freeform 12"/>
          <p:cNvSpPr>
            <a:spLocks/>
          </p:cNvSpPr>
          <p:nvPr/>
        </p:nvSpPr>
        <p:spPr bwMode="gray">
          <a:xfrm>
            <a:off x="-12700" y="2997201"/>
            <a:ext cx="2940051" cy="2663825"/>
          </a:xfrm>
          <a:custGeom>
            <a:avLst/>
            <a:gdLst>
              <a:gd name="T0" fmla="*/ 0 w 1406"/>
              <a:gd name="T1" fmla="*/ 1678 h 1678"/>
              <a:gd name="T2" fmla="*/ 0 w 1406"/>
              <a:gd name="T3" fmla="*/ 1134 h 1678"/>
              <a:gd name="T4" fmla="*/ 1406 w 1406"/>
              <a:gd name="T5" fmla="*/ 0 h 1678"/>
              <a:gd name="T6" fmla="*/ 1406 w 1406"/>
              <a:gd name="T7" fmla="*/ 91 h 1678"/>
              <a:gd name="T8" fmla="*/ 0 w 1406"/>
              <a:gd name="T9" fmla="*/ 1678 h 1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6" h="1678">
                <a:moveTo>
                  <a:pt x="0" y="1678"/>
                </a:moveTo>
                <a:lnTo>
                  <a:pt x="0" y="1134"/>
                </a:lnTo>
                <a:lnTo>
                  <a:pt x="1406" y="0"/>
                </a:lnTo>
                <a:lnTo>
                  <a:pt x="1406" y="91"/>
                </a:lnTo>
                <a:lnTo>
                  <a:pt x="0" y="1678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pic>
        <p:nvPicPr>
          <p:cNvPr id="4103" name="Picture 7" descr="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930400" y="1782764"/>
            <a:ext cx="9812867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4" name="Freeform 8"/>
          <p:cNvSpPr>
            <a:spLocks/>
          </p:cNvSpPr>
          <p:nvPr/>
        </p:nvSpPr>
        <p:spPr bwMode="gray">
          <a:xfrm>
            <a:off x="757767" y="-9525"/>
            <a:ext cx="2379133" cy="6875463"/>
          </a:xfrm>
          <a:custGeom>
            <a:avLst/>
            <a:gdLst>
              <a:gd name="T0" fmla="*/ 0 w 1124"/>
              <a:gd name="T1" fmla="*/ 0 h 4343"/>
              <a:gd name="T2" fmla="*/ 490 w 1124"/>
              <a:gd name="T3" fmla="*/ 2 h 4343"/>
              <a:gd name="T4" fmla="*/ 1124 w 1124"/>
              <a:gd name="T5" fmla="*/ 1373 h 4343"/>
              <a:gd name="T6" fmla="*/ 1124 w 1124"/>
              <a:gd name="T7" fmla="*/ 2036 h 4343"/>
              <a:gd name="T8" fmla="*/ 889 w 1124"/>
              <a:gd name="T9" fmla="*/ 4343 h 4343"/>
              <a:gd name="T10" fmla="*/ 526 w 1124"/>
              <a:gd name="T11" fmla="*/ 4343 h 4343"/>
              <a:gd name="T12" fmla="*/ 1079 w 1124"/>
              <a:gd name="T13" fmla="*/ 2031 h 4343"/>
              <a:gd name="T14" fmla="*/ 1079 w 1124"/>
              <a:gd name="T15" fmla="*/ 1383 h 4343"/>
              <a:gd name="T16" fmla="*/ 0 w 1124"/>
              <a:gd name="T17" fmla="*/ 0 h 4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24" h="4343">
                <a:moveTo>
                  <a:pt x="0" y="0"/>
                </a:moveTo>
                <a:lnTo>
                  <a:pt x="490" y="2"/>
                </a:lnTo>
                <a:lnTo>
                  <a:pt x="1124" y="1373"/>
                </a:lnTo>
                <a:lnTo>
                  <a:pt x="1124" y="2036"/>
                </a:lnTo>
                <a:lnTo>
                  <a:pt x="889" y="4343"/>
                </a:lnTo>
                <a:lnTo>
                  <a:pt x="526" y="4343"/>
                </a:lnTo>
                <a:lnTo>
                  <a:pt x="1079" y="2031"/>
                </a:lnTo>
                <a:lnTo>
                  <a:pt x="1079" y="13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05" name="Freeform 9"/>
          <p:cNvSpPr>
            <a:spLocks/>
          </p:cNvSpPr>
          <p:nvPr/>
        </p:nvSpPr>
        <p:spPr bwMode="gray">
          <a:xfrm>
            <a:off x="-16933" y="-9525"/>
            <a:ext cx="3189817" cy="6880225"/>
          </a:xfrm>
          <a:custGeom>
            <a:avLst/>
            <a:gdLst>
              <a:gd name="T0" fmla="*/ 181 w 1507"/>
              <a:gd name="T1" fmla="*/ 0 h 4334"/>
              <a:gd name="T2" fmla="*/ 1507 w 1507"/>
              <a:gd name="T3" fmla="*/ 1379 h 4334"/>
              <a:gd name="T4" fmla="*/ 1507 w 1507"/>
              <a:gd name="T5" fmla="*/ 2036 h 4334"/>
              <a:gd name="T6" fmla="*/ 727 w 1507"/>
              <a:gd name="T7" fmla="*/ 4334 h 4334"/>
              <a:gd name="T8" fmla="*/ 2 w 1507"/>
              <a:gd name="T9" fmla="*/ 4334 h 4334"/>
              <a:gd name="T10" fmla="*/ 2 w 1507"/>
              <a:gd name="T11" fmla="*/ 4162 h 4334"/>
              <a:gd name="T12" fmla="*/ 1441 w 1507"/>
              <a:gd name="T13" fmla="*/ 1936 h 4334"/>
              <a:gd name="T14" fmla="*/ 1441 w 1507"/>
              <a:gd name="T15" fmla="*/ 1447 h 4334"/>
              <a:gd name="T16" fmla="*/ 8 w 1507"/>
              <a:gd name="T17" fmla="*/ 434 h 4334"/>
              <a:gd name="T18" fmla="*/ 0 w 1507"/>
              <a:gd name="T19" fmla="*/ 6 h 4334"/>
              <a:gd name="T20" fmla="*/ 181 w 1507"/>
              <a:gd name="T21" fmla="*/ 0 h 4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07" h="4334">
                <a:moveTo>
                  <a:pt x="181" y="0"/>
                </a:moveTo>
                <a:lnTo>
                  <a:pt x="1507" y="1379"/>
                </a:lnTo>
                <a:lnTo>
                  <a:pt x="1507" y="2036"/>
                </a:lnTo>
                <a:lnTo>
                  <a:pt x="727" y="4334"/>
                </a:lnTo>
                <a:lnTo>
                  <a:pt x="2" y="4334"/>
                </a:lnTo>
                <a:lnTo>
                  <a:pt x="2" y="4162"/>
                </a:lnTo>
                <a:lnTo>
                  <a:pt x="1441" y="1936"/>
                </a:lnTo>
                <a:lnTo>
                  <a:pt x="1441" y="1447"/>
                </a:lnTo>
                <a:lnTo>
                  <a:pt x="8" y="434"/>
                </a:lnTo>
                <a:lnTo>
                  <a:pt x="0" y="6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06" name="Freeform 10"/>
          <p:cNvSpPr>
            <a:spLocks/>
          </p:cNvSpPr>
          <p:nvPr/>
        </p:nvSpPr>
        <p:spPr bwMode="gray">
          <a:xfrm>
            <a:off x="3409951" y="0"/>
            <a:ext cx="4030133" cy="6858000"/>
          </a:xfrm>
          <a:custGeom>
            <a:avLst/>
            <a:gdLst>
              <a:gd name="T0" fmla="*/ 1904 w 1904"/>
              <a:gd name="T1" fmla="*/ 0 h 4354"/>
              <a:gd name="T2" fmla="*/ 1178 w 1904"/>
              <a:gd name="T3" fmla="*/ 0 h 4354"/>
              <a:gd name="T4" fmla="*/ 0 w 1904"/>
              <a:gd name="T5" fmla="*/ 1342 h 4354"/>
              <a:gd name="T6" fmla="*/ 0 w 1904"/>
              <a:gd name="T7" fmla="*/ 1950 h 4354"/>
              <a:gd name="T8" fmla="*/ 498 w 1904"/>
              <a:gd name="T9" fmla="*/ 4354 h 4354"/>
              <a:gd name="T10" fmla="*/ 1088 w 1904"/>
              <a:gd name="T11" fmla="*/ 4354 h 4354"/>
              <a:gd name="T12" fmla="*/ 44 w 1904"/>
              <a:gd name="T13" fmla="*/ 1985 h 4354"/>
              <a:gd name="T14" fmla="*/ 44 w 1904"/>
              <a:gd name="T15" fmla="*/ 1361 h 4354"/>
              <a:gd name="T16" fmla="*/ 1904 w 1904"/>
              <a:gd name="T17" fmla="*/ 0 h 4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04" h="4354">
                <a:moveTo>
                  <a:pt x="1904" y="0"/>
                </a:moveTo>
                <a:lnTo>
                  <a:pt x="1178" y="0"/>
                </a:lnTo>
                <a:lnTo>
                  <a:pt x="0" y="1342"/>
                </a:lnTo>
                <a:lnTo>
                  <a:pt x="0" y="1950"/>
                </a:lnTo>
                <a:lnTo>
                  <a:pt x="498" y="4354"/>
                </a:lnTo>
                <a:lnTo>
                  <a:pt x="1088" y="4354"/>
                </a:lnTo>
                <a:lnTo>
                  <a:pt x="44" y="1985"/>
                </a:lnTo>
                <a:lnTo>
                  <a:pt x="44" y="1361"/>
                </a:lnTo>
                <a:lnTo>
                  <a:pt x="1904" y="0"/>
                </a:lnTo>
                <a:close/>
              </a:path>
            </a:pathLst>
          </a:custGeom>
          <a:solidFill>
            <a:srgbClr val="D3D3D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07" name="Freeform 11"/>
          <p:cNvSpPr>
            <a:spLocks/>
          </p:cNvSpPr>
          <p:nvPr/>
        </p:nvSpPr>
        <p:spPr bwMode="gray">
          <a:xfrm>
            <a:off x="3945467" y="-14288"/>
            <a:ext cx="3615267" cy="1887538"/>
          </a:xfrm>
          <a:custGeom>
            <a:avLst/>
            <a:gdLst>
              <a:gd name="T0" fmla="*/ 1708 w 1708"/>
              <a:gd name="T1" fmla="*/ 1 h 1189"/>
              <a:gd name="T2" fmla="*/ 1379 w 1708"/>
              <a:gd name="T3" fmla="*/ 0 h 1189"/>
              <a:gd name="T4" fmla="*/ 0 w 1708"/>
              <a:gd name="T5" fmla="*/ 1189 h 1189"/>
              <a:gd name="T6" fmla="*/ 1708 w 1708"/>
              <a:gd name="T7" fmla="*/ 1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08" h="1189">
                <a:moveTo>
                  <a:pt x="1708" y="1"/>
                </a:moveTo>
                <a:lnTo>
                  <a:pt x="1379" y="0"/>
                </a:lnTo>
                <a:lnTo>
                  <a:pt x="0" y="1189"/>
                </a:lnTo>
                <a:lnTo>
                  <a:pt x="1708" y="1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09" name="Freeform 13"/>
          <p:cNvSpPr>
            <a:spLocks/>
          </p:cNvSpPr>
          <p:nvPr/>
        </p:nvSpPr>
        <p:spPr bwMode="gray">
          <a:xfrm>
            <a:off x="3331634" y="-9525"/>
            <a:ext cx="8140700" cy="6867525"/>
          </a:xfrm>
          <a:custGeom>
            <a:avLst/>
            <a:gdLst>
              <a:gd name="T0" fmla="*/ 3665 w 3846"/>
              <a:gd name="T1" fmla="*/ 0 h 4354"/>
              <a:gd name="T2" fmla="*/ 2122 w 3846"/>
              <a:gd name="T3" fmla="*/ 0 h 4354"/>
              <a:gd name="T4" fmla="*/ 0 w 3846"/>
              <a:gd name="T5" fmla="*/ 1339 h 4354"/>
              <a:gd name="T6" fmla="*/ 0 w 3846"/>
              <a:gd name="T7" fmla="*/ 1950 h 4354"/>
              <a:gd name="T8" fmla="*/ 1215 w 3846"/>
              <a:gd name="T9" fmla="*/ 4354 h 4354"/>
              <a:gd name="T10" fmla="*/ 1941 w 3846"/>
              <a:gd name="T11" fmla="*/ 4354 h 4354"/>
              <a:gd name="T12" fmla="*/ 72 w 3846"/>
              <a:gd name="T13" fmla="*/ 1877 h 4354"/>
              <a:gd name="T14" fmla="*/ 72 w 3846"/>
              <a:gd name="T15" fmla="*/ 1361 h 4354"/>
              <a:gd name="T16" fmla="*/ 3846 w 3846"/>
              <a:gd name="T17" fmla="*/ 0 h 4354"/>
              <a:gd name="T18" fmla="*/ 2122 w 3846"/>
              <a:gd name="T19" fmla="*/ 0 h 4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6" h="4354">
                <a:moveTo>
                  <a:pt x="3665" y="0"/>
                </a:moveTo>
                <a:lnTo>
                  <a:pt x="2122" y="0"/>
                </a:lnTo>
                <a:lnTo>
                  <a:pt x="0" y="1339"/>
                </a:lnTo>
                <a:lnTo>
                  <a:pt x="0" y="1950"/>
                </a:lnTo>
                <a:lnTo>
                  <a:pt x="1215" y="4354"/>
                </a:lnTo>
                <a:lnTo>
                  <a:pt x="1941" y="4354"/>
                </a:lnTo>
                <a:lnTo>
                  <a:pt x="72" y="1877"/>
                </a:lnTo>
                <a:lnTo>
                  <a:pt x="72" y="1361"/>
                </a:lnTo>
                <a:lnTo>
                  <a:pt x="3846" y="0"/>
                </a:lnTo>
                <a:lnTo>
                  <a:pt x="2122" y="0"/>
                </a:lnTo>
              </a:path>
            </a:pathLst>
          </a:cu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10" name="Freeform 14"/>
          <p:cNvSpPr>
            <a:spLocks/>
          </p:cNvSpPr>
          <p:nvPr/>
        </p:nvSpPr>
        <p:spPr bwMode="gray">
          <a:xfrm>
            <a:off x="-12699" y="185739"/>
            <a:ext cx="2995084" cy="5984875"/>
          </a:xfrm>
          <a:custGeom>
            <a:avLst/>
            <a:gdLst>
              <a:gd name="T0" fmla="*/ 0 w 1415"/>
              <a:gd name="T1" fmla="*/ 0 h 3770"/>
              <a:gd name="T2" fmla="*/ 1415 w 1415"/>
              <a:gd name="T3" fmla="*/ 1197 h 3770"/>
              <a:gd name="T4" fmla="*/ 1415 w 1415"/>
              <a:gd name="T5" fmla="*/ 1862 h 3770"/>
              <a:gd name="T6" fmla="*/ 0 w 1415"/>
              <a:gd name="T7" fmla="*/ 3770 h 3770"/>
              <a:gd name="T8" fmla="*/ 0 w 1415"/>
              <a:gd name="T9" fmla="*/ 3272 h 3770"/>
              <a:gd name="T10" fmla="*/ 1376 w 1415"/>
              <a:gd name="T11" fmla="*/ 1801 h 3770"/>
              <a:gd name="T12" fmla="*/ 1376 w 1415"/>
              <a:gd name="T13" fmla="*/ 1272 h 3770"/>
              <a:gd name="T14" fmla="*/ 6 w 1415"/>
              <a:gd name="T15" fmla="*/ 962 h 3770"/>
              <a:gd name="T16" fmla="*/ 0 w 1415"/>
              <a:gd name="T17" fmla="*/ 0 h 3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5" h="3770">
                <a:moveTo>
                  <a:pt x="0" y="0"/>
                </a:moveTo>
                <a:lnTo>
                  <a:pt x="1415" y="1197"/>
                </a:lnTo>
                <a:lnTo>
                  <a:pt x="1415" y="1862"/>
                </a:lnTo>
                <a:lnTo>
                  <a:pt x="0" y="3770"/>
                </a:lnTo>
                <a:lnTo>
                  <a:pt x="0" y="3272"/>
                </a:lnTo>
                <a:lnTo>
                  <a:pt x="1376" y="1801"/>
                </a:lnTo>
                <a:lnTo>
                  <a:pt x="1376" y="1272"/>
                </a:lnTo>
                <a:lnTo>
                  <a:pt x="6" y="9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11" name="Freeform 15"/>
          <p:cNvSpPr>
            <a:spLocks/>
          </p:cNvSpPr>
          <p:nvPr/>
        </p:nvSpPr>
        <p:spPr bwMode="gray">
          <a:xfrm>
            <a:off x="3477684" y="642938"/>
            <a:ext cx="8720667" cy="6215062"/>
          </a:xfrm>
          <a:custGeom>
            <a:avLst/>
            <a:gdLst>
              <a:gd name="T0" fmla="*/ 4115 w 4120"/>
              <a:gd name="T1" fmla="*/ 0 h 3915"/>
              <a:gd name="T2" fmla="*/ 4120 w 4120"/>
              <a:gd name="T3" fmla="*/ 500 h 3915"/>
              <a:gd name="T4" fmla="*/ 61 w 4120"/>
              <a:gd name="T5" fmla="*/ 1059 h 3915"/>
              <a:gd name="T6" fmla="*/ 61 w 4120"/>
              <a:gd name="T7" fmla="*/ 1466 h 3915"/>
              <a:gd name="T8" fmla="*/ 2419 w 4120"/>
              <a:gd name="T9" fmla="*/ 3915 h 3915"/>
              <a:gd name="T10" fmla="*/ 1830 w 4120"/>
              <a:gd name="T11" fmla="*/ 3915 h 3915"/>
              <a:gd name="T12" fmla="*/ 0 w 4120"/>
              <a:gd name="T13" fmla="*/ 1449 h 3915"/>
              <a:gd name="T14" fmla="*/ 0 w 4120"/>
              <a:gd name="T15" fmla="*/ 967 h 3915"/>
              <a:gd name="T16" fmla="*/ 4115 w 4120"/>
              <a:gd name="T17" fmla="*/ 0 h 3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20" h="3915">
                <a:moveTo>
                  <a:pt x="4115" y="0"/>
                </a:moveTo>
                <a:lnTo>
                  <a:pt x="4120" y="500"/>
                </a:lnTo>
                <a:lnTo>
                  <a:pt x="61" y="1059"/>
                </a:lnTo>
                <a:lnTo>
                  <a:pt x="61" y="1466"/>
                </a:lnTo>
                <a:lnTo>
                  <a:pt x="2419" y="3915"/>
                </a:lnTo>
                <a:lnTo>
                  <a:pt x="1830" y="3915"/>
                </a:lnTo>
                <a:lnTo>
                  <a:pt x="0" y="1449"/>
                </a:lnTo>
                <a:lnTo>
                  <a:pt x="0" y="967"/>
                </a:lnTo>
                <a:lnTo>
                  <a:pt x="4115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12" name="Freeform 16"/>
          <p:cNvSpPr>
            <a:spLocks/>
          </p:cNvSpPr>
          <p:nvPr/>
        </p:nvSpPr>
        <p:spPr bwMode="gray">
          <a:xfrm>
            <a:off x="3448051" y="-17463"/>
            <a:ext cx="8743949" cy="6875463"/>
          </a:xfrm>
          <a:custGeom>
            <a:avLst/>
            <a:gdLst>
              <a:gd name="T0" fmla="*/ 4131 w 4131"/>
              <a:gd name="T1" fmla="*/ 0 h 4348"/>
              <a:gd name="T2" fmla="*/ 4126 w 4131"/>
              <a:gd name="T3" fmla="*/ 494 h 4348"/>
              <a:gd name="T4" fmla="*/ 55 w 4131"/>
              <a:gd name="T5" fmla="*/ 1404 h 4348"/>
              <a:gd name="T6" fmla="*/ 55 w 4131"/>
              <a:gd name="T7" fmla="*/ 1853 h 4348"/>
              <a:gd name="T8" fmla="*/ 3156 w 4131"/>
              <a:gd name="T9" fmla="*/ 4348 h 4348"/>
              <a:gd name="T10" fmla="*/ 2067 w 4131"/>
              <a:gd name="T11" fmla="*/ 4348 h 4348"/>
              <a:gd name="T12" fmla="*/ 0 w 4131"/>
              <a:gd name="T13" fmla="*/ 1882 h 4348"/>
              <a:gd name="T14" fmla="*/ 0 w 4131"/>
              <a:gd name="T15" fmla="*/ 1355 h 4348"/>
              <a:gd name="T16" fmla="*/ 3615 w 4131"/>
              <a:gd name="T17" fmla="*/ 0 h 4348"/>
              <a:gd name="T18" fmla="*/ 4131 w 4131"/>
              <a:gd name="T19" fmla="*/ 0 h 4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31" h="4348">
                <a:moveTo>
                  <a:pt x="4131" y="0"/>
                </a:moveTo>
                <a:lnTo>
                  <a:pt x="4126" y="494"/>
                </a:lnTo>
                <a:lnTo>
                  <a:pt x="55" y="1404"/>
                </a:lnTo>
                <a:lnTo>
                  <a:pt x="55" y="1853"/>
                </a:lnTo>
                <a:lnTo>
                  <a:pt x="3156" y="4348"/>
                </a:lnTo>
                <a:lnTo>
                  <a:pt x="2067" y="4348"/>
                </a:lnTo>
                <a:lnTo>
                  <a:pt x="0" y="1882"/>
                </a:lnTo>
                <a:lnTo>
                  <a:pt x="0" y="1355"/>
                </a:lnTo>
                <a:lnTo>
                  <a:pt x="3615" y="0"/>
                </a:lnTo>
                <a:lnTo>
                  <a:pt x="41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13" name="Freeform 17"/>
          <p:cNvSpPr>
            <a:spLocks/>
          </p:cNvSpPr>
          <p:nvPr/>
        </p:nvSpPr>
        <p:spPr bwMode="gray">
          <a:xfrm>
            <a:off x="3695700" y="-26988"/>
            <a:ext cx="7681384" cy="2087563"/>
          </a:xfrm>
          <a:custGeom>
            <a:avLst/>
            <a:gdLst>
              <a:gd name="T0" fmla="*/ 0 w 3629"/>
              <a:gd name="T1" fmla="*/ 1315 h 1315"/>
              <a:gd name="T2" fmla="*/ 2858 w 3629"/>
              <a:gd name="T3" fmla="*/ 0 h 1315"/>
              <a:gd name="T4" fmla="*/ 3629 w 3629"/>
              <a:gd name="T5" fmla="*/ 0 h 1315"/>
              <a:gd name="T6" fmla="*/ 0 w 3629"/>
              <a:gd name="T7" fmla="*/ 1315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29" h="1315">
                <a:moveTo>
                  <a:pt x="0" y="1315"/>
                </a:moveTo>
                <a:lnTo>
                  <a:pt x="2858" y="0"/>
                </a:lnTo>
                <a:lnTo>
                  <a:pt x="3629" y="0"/>
                </a:lnTo>
                <a:lnTo>
                  <a:pt x="0" y="1315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14" name="Freeform 18"/>
          <p:cNvSpPr>
            <a:spLocks/>
          </p:cNvSpPr>
          <p:nvPr/>
        </p:nvSpPr>
        <p:spPr bwMode="gray">
          <a:xfrm>
            <a:off x="3407834" y="2924175"/>
            <a:ext cx="4512733" cy="3944938"/>
          </a:xfrm>
          <a:custGeom>
            <a:avLst/>
            <a:gdLst>
              <a:gd name="T0" fmla="*/ 0 w 2132"/>
              <a:gd name="T1" fmla="*/ 0 h 2495"/>
              <a:gd name="T2" fmla="*/ 2132 w 2132"/>
              <a:gd name="T3" fmla="*/ 2495 h 2495"/>
              <a:gd name="T4" fmla="*/ 1814 w 2132"/>
              <a:gd name="T5" fmla="*/ 2495 h 2495"/>
              <a:gd name="T6" fmla="*/ 0 w 2132"/>
              <a:gd name="T7" fmla="*/ 0 h 2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2" h="2495">
                <a:moveTo>
                  <a:pt x="0" y="0"/>
                </a:moveTo>
                <a:lnTo>
                  <a:pt x="2132" y="2495"/>
                </a:lnTo>
                <a:lnTo>
                  <a:pt x="1814" y="24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20" name="Freeform 24"/>
          <p:cNvSpPr>
            <a:spLocks/>
          </p:cNvSpPr>
          <p:nvPr/>
        </p:nvSpPr>
        <p:spPr bwMode="gray">
          <a:xfrm>
            <a:off x="-25400" y="180976"/>
            <a:ext cx="3016251" cy="1914525"/>
          </a:xfrm>
          <a:custGeom>
            <a:avLst/>
            <a:gdLst>
              <a:gd name="T0" fmla="*/ 1425 w 1425"/>
              <a:gd name="T1" fmla="*/ 1206 h 1206"/>
              <a:gd name="T2" fmla="*/ 0 w 1425"/>
              <a:gd name="T3" fmla="*/ 0 h 1206"/>
              <a:gd name="T4" fmla="*/ 0 w 1425"/>
              <a:gd name="T5" fmla="*/ 186 h 1206"/>
              <a:gd name="T6" fmla="*/ 1425 w 1425"/>
              <a:gd name="T7" fmla="*/ 1206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5" h="1206">
                <a:moveTo>
                  <a:pt x="1425" y="1206"/>
                </a:moveTo>
                <a:lnTo>
                  <a:pt x="0" y="0"/>
                </a:lnTo>
                <a:lnTo>
                  <a:pt x="0" y="186"/>
                </a:lnTo>
                <a:lnTo>
                  <a:pt x="1425" y="1206"/>
                </a:lnTo>
                <a:close/>
              </a:path>
            </a:pathLst>
          </a:custGeom>
          <a:solidFill>
            <a:srgbClr val="333333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21" name="Freeform 25"/>
          <p:cNvSpPr>
            <a:spLocks/>
          </p:cNvSpPr>
          <p:nvPr/>
        </p:nvSpPr>
        <p:spPr bwMode="gray">
          <a:xfrm>
            <a:off x="-16933" y="3105151"/>
            <a:ext cx="3103033" cy="3762375"/>
          </a:xfrm>
          <a:custGeom>
            <a:avLst/>
            <a:gdLst>
              <a:gd name="T0" fmla="*/ 0 w 1466"/>
              <a:gd name="T1" fmla="*/ 2248 h 2370"/>
              <a:gd name="T2" fmla="*/ 1466 w 1466"/>
              <a:gd name="T3" fmla="*/ 0 h 2370"/>
              <a:gd name="T4" fmla="*/ 194 w 1466"/>
              <a:gd name="T5" fmla="*/ 2370 h 2370"/>
              <a:gd name="T6" fmla="*/ 4 w 1466"/>
              <a:gd name="T7" fmla="*/ 2364 h 2370"/>
              <a:gd name="T8" fmla="*/ 0 w 1466"/>
              <a:gd name="T9" fmla="*/ 2248 h 2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6" h="2370">
                <a:moveTo>
                  <a:pt x="0" y="2248"/>
                </a:moveTo>
                <a:lnTo>
                  <a:pt x="1466" y="0"/>
                </a:lnTo>
                <a:lnTo>
                  <a:pt x="194" y="2370"/>
                </a:lnTo>
                <a:lnTo>
                  <a:pt x="4" y="2364"/>
                </a:lnTo>
                <a:lnTo>
                  <a:pt x="0" y="2248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22" name="Freeform 26"/>
          <p:cNvSpPr>
            <a:spLocks/>
          </p:cNvSpPr>
          <p:nvPr/>
        </p:nvSpPr>
        <p:spPr bwMode="gray">
          <a:xfrm>
            <a:off x="-12700" y="1403350"/>
            <a:ext cx="3090333" cy="5265738"/>
          </a:xfrm>
          <a:custGeom>
            <a:avLst/>
            <a:gdLst>
              <a:gd name="T0" fmla="*/ 6 w 1460"/>
              <a:gd name="T1" fmla="*/ 0 h 3317"/>
              <a:gd name="T2" fmla="*/ 6 w 1460"/>
              <a:gd name="T3" fmla="*/ 643 h 3317"/>
              <a:gd name="T4" fmla="*/ 1410 w 1460"/>
              <a:gd name="T5" fmla="*/ 564 h 3317"/>
              <a:gd name="T6" fmla="*/ 1410 w 1460"/>
              <a:gd name="T7" fmla="*/ 1049 h 3317"/>
              <a:gd name="T8" fmla="*/ 0 w 1460"/>
              <a:gd name="T9" fmla="*/ 2852 h 3317"/>
              <a:gd name="T10" fmla="*/ 0 w 1460"/>
              <a:gd name="T11" fmla="*/ 3317 h 3317"/>
              <a:gd name="T12" fmla="*/ 1460 w 1460"/>
              <a:gd name="T13" fmla="*/ 1062 h 3317"/>
              <a:gd name="T14" fmla="*/ 1460 w 1460"/>
              <a:gd name="T15" fmla="*/ 505 h 3317"/>
              <a:gd name="T16" fmla="*/ 6 w 1460"/>
              <a:gd name="T17" fmla="*/ 0 h 3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0" h="3317">
                <a:moveTo>
                  <a:pt x="6" y="0"/>
                </a:moveTo>
                <a:lnTo>
                  <a:pt x="6" y="643"/>
                </a:lnTo>
                <a:lnTo>
                  <a:pt x="1410" y="564"/>
                </a:lnTo>
                <a:lnTo>
                  <a:pt x="1410" y="1049"/>
                </a:lnTo>
                <a:lnTo>
                  <a:pt x="0" y="2852"/>
                </a:lnTo>
                <a:lnTo>
                  <a:pt x="0" y="3317"/>
                </a:lnTo>
                <a:lnTo>
                  <a:pt x="1460" y="1062"/>
                </a:lnTo>
                <a:lnTo>
                  <a:pt x="1460" y="505"/>
                </a:lnTo>
                <a:lnTo>
                  <a:pt x="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grpSp>
        <p:nvGrpSpPr>
          <p:cNvPr id="4132" name="Group 36"/>
          <p:cNvGrpSpPr>
            <a:grpSpLocks/>
          </p:cNvGrpSpPr>
          <p:nvPr/>
        </p:nvGrpSpPr>
        <p:grpSpPr bwMode="auto">
          <a:xfrm>
            <a:off x="1" y="-19050"/>
            <a:ext cx="12204700" cy="6886575"/>
            <a:chOff x="0" y="0"/>
            <a:chExt cx="5760" cy="4326"/>
          </a:xfrm>
        </p:grpSpPr>
        <p:pic>
          <p:nvPicPr>
            <p:cNvPr id="4131" name="Picture 35" descr="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0" y="0"/>
              <a:ext cx="5760" cy="4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3" name="Rectangle 27"/>
            <p:cNvSpPr>
              <a:spLocks noChangeArrowheads="1"/>
            </p:cNvSpPr>
            <p:nvPr/>
          </p:nvSpPr>
          <p:spPr bwMode="gray">
            <a:xfrm>
              <a:off x="212" y="462"/>
              <a:ext cx="5334" cy="3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pic>
        <p:nvPicPr>
          <p:cNvPr id="4115" name="Picture 19" descr="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522385" y="4041776"/>
            <a:ext cx="554567" cy="41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14451" y="3787776"/>
            <a:ext cx="10363200" cy="88582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72200" y="3505200"/>
            <a:ext cx="5505451" cy="457200"/>
          </a:xfrm>
        </p:spPr>
        <p:txBody>
          <a:bodyPr/>
          <a:lstStyle>
            <a:lvl1pPr marL="0" indent="0" algn="dist">
              <a:buFontTx/>
              <a:buNone/>
              <a:defRPr sz="2000" b="1">
                <a:solidFill>
                  <a:srgbClr val="777777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4125" name="Text Box 29"/>
          <p:cNvSpPr txBox="1">
            <a:spLocks noChangeArrowheads="1"/>
          </p:cNvSpPr>
          <p:nvPr/>
        </p:nvSpPr>
        <p:spPr bwMode="gray">
          <a:xfrm>
            <a:off x="10470270" y="5476876"/>
            <a:ext cx="12073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2000">
                <a:solidFill>
                  <a:srgbClr val="FF7F00"/>
                </a:solidFill>
                <a:latin typeface="Arial Black" panose="020B0A04020102020204" pitchFamily="34" charset="0"/>
              </a:rPr>
              <a:t>L/O/G/O</a:t>
            </a:r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gray">
          <a:xfrm>
            <a:off x="9544759" y="5781675"/>
            <a:ext cx="21328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1600">
                <a:latin typeface="Times New Roman" panose="02020603050405020304" pitchFamily="18" charset="0"/>
              </a:rPr>
              <a:t>www.themegallery.com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  <p:sp>
        <p:nvSpPr>
          <p:cNvPr id="4146" name="Rectangle 50"/>
          <p:cNvSpPr>
            <a:spLocks noChangeArrowheads="1"/>
          </p:cNvSpPr>
          <p:nvPr/>
        </p:nvSpPr>
        <p:spPr bwMode="gray">
          <a:xfrm>
            <a:off x="455085" y="722313"/>
            <a:ext cx="11305116" cy="541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405188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96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2184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2350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167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7410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3615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8802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8895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960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8439"/>
            <a:ext cx="2743200" cy="59277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8439"/>
            <a:ext cx="8026400" cy="59277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7258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385" y="198438"/>
            <a:ext cx="84031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83325"/>
            <a:ext cx="2844800" cy="304800"/>
          </a:xfrm>
        </p:spPr>
        <p:txBody>
          <a:bodyPr/>
          <a:lstStyle>
            <a:lvl1pPr>
              <a:defRPr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83325"/>
            <a:ext cx="3860800" cy="3048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83325"/>
            <a:ext cx="2844800" cy="304800"/>
          </a:xfrm>
        </p:spPr>
        <p:txBody>
          <a:bodyPr/>
          <a:lstStyle>
            <a:lvl1pPr>
              <a:defRPr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484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Freeform 9"/>
          <p:cNvSpPr>
            <a:spLocks/>
          </p:cNvSpPr>
          <p:nvPr/>
        </p:nvSpPr>
        <p:spPr bwMode="gray">
          <a:xfrm>
            <a:off x="10210800" y="1"/>
            <a:ext cx="1473200" cy="6848475"/>
          </a:xfrm>
          <a:custGeom>
            <a:avLst/>
            <a:gdLst>
              <a:gd name="T0" fmla="*/ 312 w 696"/>
              <a:gd name="T1" fmla="*/ 0 h 4314"/>
              <a:gd name="T2" fmla="*/ 528 w 696"/>
              <a:gd name="T3" fmla="*/ 444 h 4314"/>
              <a:gd name="T4" fmla="*/ 696 w 696"/>
              <a:gd name="T5" fmla="*/ 960 h 4314"/>
              <a:gd name="T6" fmla="*/ 426 w 696"/>
              <a:gd name="T7" fmla="*/ 4314 h 4314"/>
              <a:gd name="T8" fmla="*/ 108 w 696"/>
              <a:gd name="T9" fmla="*/ 4314 h 4314"/>
              <a:gd name="T10" fmla="*/ 648 w 696"/>
              <a:gd name="T11" fmla="*/ 960 h 4314"/>
              <a:gd name="T12" fmla="*/ 456 w 696"/>
              <a:gd name="T13" fmla="*/ 432 h 4314"/>
              <a:gd name="T14" fmla="*/ 0 w 696"/>
              <a:gd name="T15" fmla="*/ 0 h 4314"/>
              <a:gd name="T16" fmla="*/ 312 w 696"/>
              <a:gd name="T17" fmla="*/ 0 h 4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6" h="4314">
                <a:moveTo>
                  <a:pt x="312" y="0"/>
                </a:moveTo>
                <a:lnTo>
                  <a:pt x="528" y="444"/>
                </a:lnTo>
                <a:lnTo>
                  <a:pt x="696" y="960"/>
                </a:lnTo>
                <a:lnTo>
                  <a:pt x="426" y="4314"/>
                </a:lnTo>
                <a:lnTo>
                  <a:pt x="108" y="4314"/>
                </a:lnTo>
                <a:lnTo>
                  <a:pt x="648" y="960"/>
                </a:lnTo>
                <a:lnTo>
                  <a:pt x="456" y="432"/>
                </a:lnTo>
                <a:lnTo>
                  <a:pt x="0" y="0"/>
                </a:lnTo>
                <a:lnTo>
                  <a:pt x="312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4" name="Freeform 10"/>
          <p:cNvSpPr>
            <a:spLocks/>
          </p:cNvSpPr>
          <p:nvPr/>
        </p:nvSpPr>
        <p:spPr bwMode="gray">
          <a:xfrm>
            <a:off x="1422400" y="0"/>
            <a:ext cx="10058400" cy="6858000"/>
          </a:xfrm>
          <a:custGeom>
            <a:avLst/>
            <a:gdLst>
              <a:gd name="T0" fmla="*/ 0 w 4752"/>
              <a:gd name="T1" fmla="*/ 0 h 4320"/>
              <a:gd name="T2" fmla="*/ 1536 w 4752"/>
              <a:gd name="T3" fmla="*/ 0 h 4320"/>
              <a:gd name="T4" fmla="*/ 4590 w 4752"/>
              <a:gd name="T5" fmla="*/ 450 h 4320"/>
              <a:gd name="T6" fmla="*/ 4752 w 4752"/>
              <a:gd name="T7" fmla="*/ 972 h 4320"/>
              <a:gd name="T8" fmla="*/ 3600 w 4752"/>
              <a:gd name="T9" fmla="*/ 4320 h 4320"/>
              <a:gd name="T10" fmla="*/ 3312 w 4752"/>
              <a:gd name="T11" fmla="*/ 4320 h 4320"/>
              <a:gd name="T12" fmla="*/ 4712 w 4752"/>
              <a:gd name="T13" fmla="*/ 994 h 4320"/>
              <a:gd name="T14" fmla="*/ 4518 w 4752"/>
              <a:gd name="T15" fmla="*/ 524 h 4320"/>
              <a:gd name="T16" fmla="*/ 0 w 4752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52" h="4320">
                <a:moveTo>
                  <a:pt x="0" y="0"/>
                </a:moveTo>
                <a:lnTo>
                  <a:pt x="1536" y="0"/>
                </a:lnTo>
                <a:lnTo>
                  <a:pt x="4590" y="450"/>
                </a:lnTo>
                <a:lnTo>
                  <a:pt x="4752" y="972"/>
                </a:lnTo>
                <a:lnTo>
                  <a:pt x="3600" y="4320"/>
                </a:lnTo>
                <a:lnTo>
                  <a:pt x="3312" y="4320"/>
                </a:lnTo>
                <a:lnTo>
                  <a:pt x="4712" y="994"/>
                </a:lnTo>
                <a:lnTo>
                  <a:pt x="4518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5" name="Freeform 11"/>
          <p:cNvSpPr>
            <a:spLocks/>
          </p:cNvSpPr>
          <p:nvPr/>
        </p:nvSpPr>
        <p:spPr bwMode="gray">
          <a:xfrm>
            <a:off x="7315200" y="1657350"/>
            <a:ext cx="3987800" cy="5200650"/>
          </a:xfrm>
          <a:custGeom>
            <a:avLst/>
            <a:gdLst>
              <a:gd name="T0" fmla="*/ 384 w 1884"/>
              <a:gd name="T1" fmla="*/ 3276 h 3276"/>
              <a:gd name="T2" fmla="*/ 1884 w 1884"/>
              <a:gd name="T3" fmla="*/ 0 h 3276"/>
              <a:gd name="T4" fmla="*/ 0 w 1884"/>
              <a:gd name="T5" fmla="*/ 3276 h 3276"/>
              <a:gd name="T6" fmla="*/ 384 w 1884"/>
              <a:gd name="T7" fmla="*/ 3276 h 3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4" h="3276">
                <a:moveTo>
                  <a:pt x="384" y="3276"/>
                </a:moveTo>
                <a:lnTo>
                  <a:pt x="1884" y="0"/>
                </a:lnTo>
                <a:lnTo>
                  <a:pt x="0" y="3276"/>
                </a:lnTo>
                <a:lnTo>
                  <a:pt x="384" y="3276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6" name="Freeform 12"/>
          <p:cNvSpPr>
            <a:spLocks/>
          </p:cNvSpPr>
          <p:nvPr/>
        </p:nvSpPr>
        <p:spPr bwMode="gray">
          <a:xfrm>
            <a:off x="4572001" y="0"/>
            <a:ext cx="6896100" cy="6858000"/>
          </a:xfrm>
          <a:custGeom>
            <a:avLst/>
            <a:gdLst>
              <a:gd name="T0" fmla="*/ 0 w 3258"/>
              <a:gd name="T1" fmla="*/ 0 h 4320"/>
              <a:gd name="T2" fmla="*/ 3082 w 3258"/>
              <a:gd name="T3" fmla="*/ 475 h 4320"/>
              <a:gd name="T4" fmla="*/ 3210 w 3258"/>
              <a:gd name="T5" fmla="*/ 936 h 4320"/>
              <a:gd name="T6" fmla="*/ 1728 w 3258"/>
              <a:gd name="T7" fmla="*/ 4320 h 4320"/>
              <a:gd name="T8" fmla="*/ 1872 w 3258"/>
              <a:gd name="T9" fmla="*/ 4320 h 4320"/>
              <a:gd name="T10" fmla="*/ 3258 w 3258"/>
              <a:gd name="T11" fmla="*/ 912 h 4320"/>
              <a:gd name="T12" fmla="*/ 3120 w 3258"/>
              <a:gd name="T13" fmla="*/ 432 h 4320"/>
              <a:gd name="T14" fmla="*/ 1296 w 3258"/>
              <a:gd name="T15" fmla="*/ 0 h 4320"/>
              <a:gd name="T16" fmla="*/ 0 w 3258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58" h="4320">
                <a:moveTo>
                  <a:pt x="0" y="0"/>
                </a:moveTo>
                <a:lnTo>
                  <a:pt x="3082" y="475"/>
                </a:lnTo>
                <a:lnTo>
                  <a:pt x="3210" y="936"/>
                </a:lnTo>
                <a:lnTo>
                  <a:pt x="1728" y="4320"/>
                </a:lnTo>
                <a:lnTo>
                  <a:pt x="1872" y="4320"/>
                </a:lnTo>
                <a:lnTo>
                  <a:pt x="3258" y="912"/>
                </a:lnTo>
                <a:lnTo>
                  <a:pt x="3120" y="432"/>
                </a:lnTo>
                <a:lnTo>
                  <a:pt x="1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8" name="Freeform 14"/>
          <p:cNvSpPr>
            <a:spLocks/>
          </p:cNvSpPr>
          <p:nvPr/>
        </p:nvSpPr>
        <p:spPr bwMode="gray">
          <a:xfrm>
            <a:off x="11176000" y="0"/>
            <a:ext cx="1016000" cy="1143000"/>
          </a:xfrm>
          <a:custGeom>
            <a:avLst/>
            <a:gdLst>
              <a:gd name="T0" fmla="*/ 48 w 480"/>
              <a:gd name="T1" fmla="*/ 0 h 720"/>
              <a:gd name="T2" fmla="*/ 0 w 480"/>
              <a:gd name="T3" fmla="*/ 96 h 720"/>
              <a:gd name="T4" fmla="*/ 354 w 480"/>
              <a:gd name="T5" fmla="*/ 690 h 720"/>
              <a:gd name="T6" fmla="*/ 480 w 480"/>
              <a:gd name="T7" fmla="*/ 720 h 720"/>
              <a:gd name="T8" fmla="*/ 480 w 480"/>
              <a:gd name="T9" fmla="*/ 576 h 720"/>
              <a:gd name="T10" fmla="*/ 48 w 480"/>
              <a:gd name="T11" fmla="*/ 96 h 720"/>
              <a:gd name="T12" fmla="*/ 89 w 480"/>
              <a:gd name="T13" fmla="*/ 0 h 720"/>
              <a:gd name="T14" fmla="*/ 48 w 480"/>
              <a:gd name="T15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0" h="720">
                <a:moveTo>
                  <a:pt x="48" y="0"/>
                </a:moveTo>
                <a:lnTo>
                  <a:pt x="0" y="96"/>
                </a:lnTo>
                <a:lnTo>
                  <a:pt x="354" y="690"/>
                </a:lnTo>
                <a:lnTo>
                  <a:pt x="480" y="720"/>
                </a:lnTo>
                <a:lnTo>
                  <a:pt x="480" y="576"/>
                </a:lnTo>
                <a:lnTo>
                  <a:pt x="48" y="96"/>
                </a:lnTo>
                <a:lnTo>
                  <a:pt x="89" y="0"/>
                </a:lnTo>
                <a:lnTo>
                  <a:pt x="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9" name="Freeform 15"/>
          <p:cNvSpPr>
            <a:spLocks/>
          </p:cNvSpPr>
          <p:nvPr/>
        </p:nvSpPr>
        <p:spPr bwMode="gray">
          <a:xfrm>
            <a:off x="11480800" y="228600"/>
            <a:ext cx="711200" cy="533400"/>
          </a:xfrm>
          <a:custGeom>
            <a:avLst/>
            <a:gdLst>
              <a:gd name="T0" fmla="*/ 336 w 336"/>
              <a:gd name="T1" fmla="*/ 336 h 336"/>
              <a:gd name="T2" fmla="*/ 0 w 336"/>
              <a:gd name="T3" fmla="*/ 0 h 336"/>
              <a:gd name="T4" fmla="*/ 336 w 336"/>
              <a:gd name="T5" fmla="*/ 240 h 336"/>
              <a:gd name="T6" fmla="*/ 336 w 336"/>
              <a:gd name="T7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" h="336">
                <a:moveTo>
                  <a:pt x="336" y="336"/>
                </a:moveTo>
                <a:lnTo>
                  <a:pt x="0" y="0"/>
                </a:lnTo>
                <a:lnTo>
                  <a:pt x="336" y="240"/>
                </a:lnTo>
                <a:lnTo>
                  <a:pt x="336" y="33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grpSp>
        <p:nvGrpSpPr>
          <p:cNvPr id="1073" name="Group 49"/>
          <p:cNvGrpSpPr>
            <a:grpSpLocks/>
          </p:cNvGrpSpPr>
          <p:nvPr/>
        </p:nvGrpSpPr>
        <p:grpSpPr bwMode="auto">
          <a:xfrm>
            <a:off x="7416801" y="0"/>
            <a:ext cx="4356100" cy="6858000"/>
            <a:chOff x="3504" y="0"/>
            <a:chExt cx="2058" cy="4320"/>
          </a:xfrm>
        </p:grpSpPr>
        <p:sp>
          <p:nvSpPr>
            <p:cNvPr id="1037" name="Freeform 13"/>
            <p:cNvSpPr>
              <a:spLocks/>
            </p:cNvSpPr>
            <p:nvPr/>
          </p:nvSpPr>
          <p:spPr bwMode="gray">
            <a:xfrm>
              <a:off x="3504" y="0"/>
              <a:ext cx="2058" cy="4320"/>
            </a:xfrm>
            <a:custGeom>
              <a:avLst/>
              <a:gdLst>
                <a:gd name="T0" fmla="*/ 0 w 2058"/>
                <a:gd name="T1" fmla="*/ 0 h 4320"/>
                <a:gd name="T2" fmla="*/ 1056 w 2058"/>
                <a:gd name="T3" fmla="*/ 0 h 4320"/>
                <a:gd name="T4" fmla="*/ 1854 w 2058"/>
                <a:gd name="T5" fmla="*/ 402 h 4320"/>
                <a:gd name="T6" fmla="*/ 2058 w 2058"/>
                <a:gd name="T7" fmla="*/ 972 h 4320"/>
                <a:gd name="T8" fmla="*/ 1296 w 2058"/>
                <a:gd name="T9" fmla="*/ 4320 h 4320"/>
                <a:gd name="T10" fmla="*/ 720 w 2058"/>
                <a:gd name="T11" fmla="*/ 4320 h 4320"/>
                <a:gd name="T12" fmla="*/ 1920 w 2058"/>
                <a:gd name="T13" fmla="*/ 912 h 4320"/>
                <a:gd name="T14" fmla="*/ 1776 w 2058"/>
                <a:gd name="T15" fmla="*/ 432 h 4320"/>
                <a:gd name="T16" fmla="*/ 0 w 2058"/>
                <a:gd name="T17" fmla="*/ 0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8" h="4320">
                  <a:moveTo>
                    <a:pt x="0" y="0"/>
                  </a:moveTo>
                  <a:lnTo>
                    <a:pt x="1056" y="0"/>
                  </a:lnTo>
                  <a:lnTo>
                    <a:pt x="1854" y="402"/>
                  </a:lnTo>
                  <a:lnTo>
                    <a:pt x="2058" y="972"/>
                  </a:lnTo>
                  <a:lnTo>
                    <a:pt x="1296" y="4320"/>
                  </a:lnTo>
                  <a:lnTo>
                    <a:pt x="720" y="4320"/>
                  </a:lnTo>
                  <a:lnTo>
                    <a:pt x="1920" y="912"/>
                  </a:lnTo>
                  <a:lnTo>
                    <a:pt x="1776" y="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gray">
            <a:xfrm>
              <a:off x="4217" y="1056"/>
              <a:ext cx="1152" cy="3264"/>
            </a:xfrm>
            <a:custGeom>
              <a:avLst/>
              <a:gdLst>
                <a:gd name="T0" fmla="*/ 0 w 1152"/>
                <a:gd name="T1" fmla="*/ 3264 h 3264"/>
                <a:gd name="T2" fmla="*/ 1152 w 1152"/>
                <a:gd name="T3" fmla="*/ 0 h 3264"/>
                <a:gd name="T4" fmla="*/ 96 w 1152"/>
                <a:gd name="T5" fmla="*/ 3264 h 3264"/>
                <a:gd name="T6" fmla="*/ 0 w 1152"/>
                <a:gd name="T7" fmla="*/ 3264 h 3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3264">
                  <a:moveTo>
                    <a:pt x="0" y="3264"/>
                  </a:moveTo>
                  <a:lnTo>
                    <a:pt x="1152" y="0"/>
                  </a:lnTo>
                  <a:lnTo>
                    <a:pt x="96" y="3264"/>
                  </a:lnTo>
                  <a:lnTo>
                    <a:pt x="0" y="326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grpSp>
        <p:nvGrpSpPr>
          <p:cNvPr id="1046" name="Group 22"/>
          <p:cNvGrpSpPr>
            <a:grpSpLocks/>
          </p:cNvGrpSpPr>
          <p:nvPr/>
        </p:nvGrpSpPr>
        <p:grpSpPr bwMode="auto">
          <a:xfrm>
            <a:off x="190500" y="765175"/>
            <a:ext cx="11811000" cy="5943600"/>
            <a:chOff x="90" y="480"/>
            <a:chExt cx="5580" cy="3744"/>
          </a:xfrm>
        </p:grpSpPr>
        <p:sp>
          <p:nvSpPr>
            <p:cNvPr id="1040" name="Rectangle 16"/>
            <p:cNvSpPr>
              <a:spLocks noChangeArrowheads="1"/>
            </p:cNvSpPr>
            <p:nvPr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>
              <a:off x="90" y="480"/>
              <a:ext cx="5580" cy="3744"/>
            </a:xfrm>
            <a:prstGeom prst="rect">
              <a:avLst/>
            </a:prstGeom>
            <a:solidFill>
              <a:srgbClr val="FFFFFF">
                <a:alpha val="69000"/>
              </a:srgbClr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1042" name="Rectangle 18"/>
          <p:cNvSpPr>
            <a:spLocks noChangeArrowheads="1"/>
          </p:cNvSpPr>
          <p:nvPr/>
        </p:nvSpPr>
        <p:spPr bwMode="gray">
          <a:xfrm>
            <a:off x="508000" y="676275"/>
            <a:ext cx="83312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pic>
        <p:nvPicPr>
          <p:cNvPr id="1043" name="Picture 19" descr="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66751" y="577851"/>
            <a:ext cx="495300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04385" y="198438"/>
            <a:ext cx="84031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09600" y="6283325"/>
            <a:ext cx="284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671CB52C-8C18-4AE3-8A8A-10577D532EBE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165600" y="6283325"/>
            <a:ext cx="386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8737600" y="6283325"/>
            <a:ext cx="284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FE445EE-548B-4B93-91DD-5A15528F4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2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Bảng </a:t>
            </a:r>
            <a:r>
              <a:rPr lang="en-US" dirty="0" err="1" smtClean="0"/>
              <a:t>băm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708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Lý thuyết về bảng </a:t>
            </a:r>
            <a:r>
              <a:rPr lang="en-US" b="0" dirty="0" err="1" smtClean="0"/>
              <a:t>băm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598" y="1600201"/>
            <a:ext cx="657656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578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Hàm </a:t>
            </a:r>
            <a:r>
              <a:rPr lang="en-US" dirty="0" err="1" smtClean="0"/>
              <a:t>băm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Hàm băm là bất kỳ hàm nào có thể được sử dụng để ánh xạ tập dữ liệu có kích thước tùy ý thành tập dữ liệu có kích thước cố định và đưa vào bảng băm. Các giá trị được trả về bởi hàm băm được gọi là giá trị băm.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2069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Hàm </a:t>
            </a:r>
            <a:r>
              <a:rPr lang="en-US" dirty="0" err="1" smtClean="0"/>
              <a:t>băm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Một hàm băm được đánh giá tốt nếu nó đạt được các yêu cầu cơ bản sau:</a:t>
            </a:r>
          </a:p>
          <a:p>
            <a:r>
              <a:rPr lang="vi-VN" dirty="0"/>
              <a:t>Dễ tính toán: Nó phải dễ tính toán và bản thân nó không phải là một thuật toán</a:t>
            </a:r>
          </a:p>
          <a:p>
            <a:r>
              <a:rPr lang="vi-VN" dirty="0"/>
              <a:t>Phân bố đồng đều: Nó cần phải phân phối đồng đều trên bảng băm, không xảy ra việc tập trung thành các cụm</a:t>
            </a:r>
          </a:p>
          <a:p>
            <a:r>
              <a:rPr lang="vi-VN" dirty="0"/>
              <a:t>Ít va chạm: Va chạm xảy ra khi các cặp phần tử được ánh xạ tới cùng một giá trị băm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548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385" y="198438"/>
            <a:ext cx="10095961" cy="1143000"/>
          </a:xfrm>
        </p:spPr>
        <p:txBody>
          <a:bodyPr/>
          <a:lstStyle/>
          <a:p>
            <a:r>
              <a:rPr lang="vi-VN" dirty="0"/>
              <a:t> Hàm Băm sử dụng Phương pháp chia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Dùng số dư:</a:t>
            </a:r>
          </a:p>
          <a:p>
            <a:pPr lvl="1"/>
            <a:r>
              <a:rPr lang="vi-VN" i="1" dirty="0"/>
              <a:t>h</a:t>
            </a:r>
            <a:r>
              <a:rPr lang="vi-VN" dirty="0"/>
              <a:t>(</a:t>
            </a:r>
            <a:r>
              <a:rPr lang="vi-VN" i="1" dirty="0"/>
              <a:t>k</a:t>
            </a:r>
            <a:r>
              <a:rPr lang="vi-VN" dirty="0"/>
              <a:t>) = </a:t>
            </a:r>
            <a:r>
              <a:rPr lang="vi-VN" i="1" dirty="0"/>
              <a:t>k</a:t>
            </a:r>
            <a:r>
              <a:rPr lang="vi-VN" dirty="0"/>
              <a:t> mod </a:t>
            </a:r>
            <a:r>
              <a:rPr lang="vi-VN" i="1" dirty="0"/>
              <a:t>m</a:t>
            </a:r>
            <a:endParaRPr lang="vi-VN" dirty="0"/>
          </a:p>
          <a:p>
            <a:pPr lvl="1"/>
            <a:r>
              <a:rPr lang="vi-VN" i="1" dirty="0"/>
              <a:t>k</a:t>
            </a:r>
            <a:r>
              <a:rPr lang="vi-VN" dirty="0"/>
              <a:t> là khoá, </a:t>
            </a:r>
            <a:r>
              <a:rPr lang="vi-VN" i="1" dirty="0"/>
              <a:t>m</a:t>
            </a:r>
            <a:r>
              <a:rPr lang="vi-VN" dirty="0"/>
              <a:t> là kích thước của bảng.</a:t>
            </a:r>
          </a:p>
          <a:p>
            <a:r>
              <a:rPr lang="vi-VN" dirty="0"/>
              <a:t>Vấn đề chọn giá trị </a:t>
            </a:r>
            <a:r>
              <a:rPr lang="vi-VN" i="1" dirty="0"/>
              <a:t>m</a:t>
            </a:r>
            <a:endParaRPr lang="vi-VN" dirty="0"/>
          </a:p>
          <a:p>
            <a:pPr lvl="1"/>
            <a:r>
              <a:rPr lang="vi-VN" i="1" dirty="0"/>
              <a:t>m</a:t>
            </a:r>
            <a:r>
              <a:rPr lang="vi-VN" dirty="0"/>
              <a:t> = 2</a:t>
            </a:r>
            <a:r>
              <a:rPr lang="vi-VN" i="1" baseline="30000" dirty="0"/>
              <a:t>n</a:t>
            </a:r>
            <a:r>
              <a:rPr lang="vi-VN" dirty="0"/>
              <a:t> (không tốt)</a:t>
            </a:r>
          </a:p>
          <a:p>
            <a:pPr lvl="1"/>
            <a:r>
              <a:rPr lang="vi-VN" dirty="0"/>
              <a:t>nếu chọn m= 2</a:t>
            </a:r>
            <a:r>
              <a:rPr lang="vi-VN" baseline="30000" dirty="0"/>
              <a:t>n</a:t>
            </a:r>
            <a:r>
              <a:rPr lang="vi-VN" dirty="0"/>
              <a:t> thông thường không tốt  h(k) = k mod 2</a:t>
            </a:r>
            <a:r>
              <a:rPr lang="vi-VN" baseline="30000" dirty="0"/>
              <a:t>n </a:t>
            </a:r>
            <a:r>
              <a:rPr lang="vi-VN" dirty="0"/>
              <a:t>sẽ chọn cùng n bits cuối của k</a:t>
            </a:r>
          </a:p>
          <a:p>
            <a:pPr lvl="1"/>
            <a:r>
              <a:rPr lang="vi-VN" i="1" dirty="0"/>
              <a:t>m</a:t>
            </a:r>
            <a:r>
              <a:rPr lang="vi-VN" dirty="0"/>
              <a:t> là nguyên tố (tốt). Thông thường m được chọn là số nguyên tố gần với 2</a:t>
            </a:r>
            <a:r>
              <a:rPr lang="vi-VN" baseline="30000" dirty="0"/>
              <a:t>n</a:t>
            </a:r>
            <a:r>
              <a:rPr lang="vi-VN" dirty="0"/>
              <a:t>. Chẳng hạn bảng ~4000 mục, chọn </a:t>
            </a:r>
            <a:r>
              <a:rPr lang="vi-VN" i="1" dirty="0"/>
              <a:t>m</a:t>
            </a:r>
            <a:r>
              <a:rPr lang="vi-VN" dirty="0"/>
              <a:t> = 4093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185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385" y="198438"/>
            <a:ext cx="10150552" cy="1143000"/>
          </a:xfrm>
        </p:spPr>
        <p:txBody>
          <a:bodyPr/>
          <a:lstStyle/>
          <a:p>
            <a:r>
              <a:rPr lang="vi-VN" dirty="0"/>
              <a:t>Hàm Băm sử dụng Phương pháp nhân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Sử dụng</a:t>
            </a:r>
          </a:p>
          <a:p>
            <a:pPr lvl="1"/>
            <a:r>
              <a:rPr lang="vi-VN" i="1" dirty="0"/>
              <a:t>h</a:t>
            </a:r>
            <a:r>
              <a:rPr lang="vi-VN" dirty="0"/>
              <a:t>(</a:t>
            </a:r>
            <a:r>
              <a:rPr lang="vi-VN" i="1" dirty="0"/>
              <a:t>k</a:t>
            </a:r>
            <a:r>
              <a:rPr lang="vi-VN" dirty="0"/>
              <a:t>) = </a:t>
            </a:r>
            <a:r>
              <a:rPr lang="vi-VN" dirty="0" smtClean="0"/>
              <a:t>m</a:t>
            </a:r>
            <a:r>
              <a:rPr lang="en-US" dirty="0" smtClean="0"/>
              <a:t>*</a:t>
            </a:r>
            <a:r>
              <a:rPr lang="vi-VN" dirty="0" smtClean="0"/>
              <a:t> </a:t>
            </a:r>
            <a:r>
              <a:rPr lang="vi-VN" dirty="0"/>
              <a:t>(</a:t>
            </a:r>
            <a:r>
              <a:rPr lang="vi-VN" i="1" dirty="0" smtClean="0"/>
              <a:t>k</a:t>
            </a:r>
            <a:r>
              <a:rPr lang="en-US" i="1" dirty="0" smtClean="0"/>
              <a:t>*</a:t>
            </a:r>
            <a:r>
              <a:rPr lang="vi-VN" dirty="0"/>
              <a:t> </a:t>
            </a:r>
            <a:r>
              <a:rPr lang="vi-VN" i="1" dirty="0"/>
              <a:t>A</a:t>
            </a:r>
            <a:r>
              <a:rPr lang="vi-VN" dirty="0"/>
              <a:t> mod 1)</a:t>
            </a:r>
          </a:p>
          <a:p>
            <a:pPr lvl="1"/>
            <a:r>
              <a:rPr lang="vi-VN" dirty="0"/>
              <a:t>k là khóa, m là kích thước bảng, </a:t>
            </a:r>
            <a:r>
              <a:rPr lang="vi-VN" i="1" dirty="0"/>
              <a:t>A</a:t>
            </a:r>
            <a:r>
              <a:rPr lang="vi-VN" dirty="0"/>
              <a:t> là hằng số: 0 &lt; </a:t>
            </a:r>
            <a:r>
              <a:rPr lang="vi-VN" i="1" dirty="0"/>
              <a:t>A &lt; </a:t>
            </a:r>
            <a:r>
              <a:rPr lang="vi-VN" dirty="0"/>
              <a:t>1</a:t>
            </a:r>
          </a:p>
          <a:p>
            <a:r>
              <a:rPr lang="vi-VN" i="1" dirty="0"/>
              <a:t>Chọn m và A</a:t>
            </a:r>
            <a:endParaRPr lang="vi-VN" dirty="0"/>
          </a:p>
          <a:p>
            <a:pPr lvl="1"/>
            <a:r>
              <a:rPr lang="vi-VN" dirty="0" smtClean="0"/>
              <a:t>thường </a:t>
            </a:r>
            <a:r>
              <a:rPr lang="vi-VN" dirty="0"/>
              <a:t>chọn </a:t>
            </a:r>
            <a:r>
              <a:rPr lang="vi-VN" i="1" dirty="0"/>
              <a:t>m =</a:t>
            </a:r>
            <a:r>
              <a:rPr lang="vi-VN" dirty="0"/>
              <a:t> 2p</a:t>
            </a:r>
          </a:p>
          <a:p>
            <a:pPr lvl="1"/>
            <a:r>
              <a:rPr lang="vi-VN" dirty="0"/>
              <a:t>Sự tối ưu trong việc chọn A phụ thuộc vào đặc trưng của dữ liệu.</a:t>
            </a:r>
          </a:p>
          <a:p>
            <a:pPr lvl="1"/>
            <a:r>
              <a:rPr lang="vi-VN" dirty="0"/>
              <a:t>Theo Knuth chọn A = </a:t>
            </a:r>
            <a:r>
              <a:rPr lang="vi-VN" dirty="0" smtClean="0"/>
              <a:t>1/2(</a:t>
            </a:r>
            <a:r>
              <a:rPr lang="en-US" dirty="0" err="1" smtClean="0"/>
              <a:t>sqrt</a:t>
            </a:r>
            <a:r>
              <a:rPr lang="en-US" dirty="0" smtClean="0"/>
              <a:t>(</a:t>
            </a:r>
            <a:r>
              <a:rPr lang="vi-VN" dirty="0" smtClean="0"/>
              <a:t>5</a:t>
            </a:r>
            <a:r>
              <a:rPr lang="en-US" dirty="0" smtClean="0"/>
              <a:t>)</a:t>
            </a:r>
            <a:r>
              <a:rPr lang="vi-VN" dirty="0" smtClean="0"/>
              <a:t> </a:t>
            </a:r>
            <a:r>
              <a:rPr lang="vi-VN" dirty="0"/>
              <a:t>-1) » 0.618033987 được xem là tốt.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7679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băm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quát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Việc chọn hàm băm m không tốt có thể dẫn đến xác suất đụng độ lớn.</a:t>
            </a:r>
          </a:p>
          <a:p>
            <a:r>
              <a:rPr lang="vi-VN" dirty="0"/>
              <a:t>Giải pháp:</a:t>
            </a:r>
          </a:p>
          <a:p>
            <a:pPr lvl="1"/>
            <a:r>
              <a:rPr lang="vi-VN" dirty="0"/>
              <a:t>Lựa chọn hàm băm h ngẫu nhiên.</a:t>
            </a:r>
          </a:p>
          <a:p>
            <a:pPr lvl="1"/>
            <a:r>
              <a:rPr lang="vi-VN" dirty="0"/>
              <a:t>Chọn hàm băm độc lập với khóa.</a:t>
            </a:r>
          </a:p>
          <a:p>
            <a:pPr lvl="1"/>
            <a:r>
              <a:rPr lang="vi-VN" dirty="0"/>
              <a:t>Khởi tạo một tập các hàm băm H phổ quát và từ đó h được chọn ngẫu nhiên.</a:t>
            </a:r>
          </a:p>
          <a:p>
            <a:pPr lvl="1"/>
            <a:r>
              <a:rPr lang="vi-VN" dirty="0"/>
              <a:t>Một tập các hàm băm H là phổ quát (</a:t>
            </a:r>
            <a:r>
              <a:rPr lang="vi-VN" i="1" dirty="0"/>
              <a:t>universal</a:t>
            </a:r>
            <a:r>
              <a:rPr lang="vi-VN" dirty="0"/>
              <a:t> ) nếu với mọi  f, k </a:t>
            </a:r>
            <a:r>
              <a:rPr lang="en-US" dirty="0" smtClean="0"/>
              <a:t>belong</a:t>
            </a:r>
            <a:r>
              <a:rPr lang="vi-VN" dirty="0"/>
              <a:t> H và 2 khoá k, l ta có xác suất: Pr{</a:t>
            </a:r>
            <a:r>
              <a:rPr lang="vi-VN" i="1" dirty="0"/>
              <a:t>f(k)</a:t>
            </a:r>
            <a:r>
              <a:rPr lang="vi-VN" dirty="0"/>
              <a:t> = </a:t>
            </a:r>
            <a:r>
              <a:rPr lang="vi-VN" i="1" dirty="0"/>
              <a:t>f(l)</a:t>
            </a:r>
            <a:r>
              <a:rPr lang="vi-VN" dirty="0"/>
              <a:t>} &lt;= 1/</a:t>
            </a:r>
            <a:r>
              <a:rPr lang="vi-VN" i="1" dirty="0"/>
              <a:t>m</a:t>
            </a:r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5061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Xung </a:t>
            </a:r>
            <a:r>
              <a:rPr lang="en-US" dirty="0" err="1" smtClean="0"/>
              <a:t>đột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75" y="1453357"/>
            <a:ext cx="80486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288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Giải quyết </a:t>
            </a:r>
            <a:r>
              <a:rPr lang="en-US" dirty="0" err="1" smtClean="0"/>
              <a:t>đụng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Phương pháp kết nối trực tiếp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97" y="2344739"/>
            <a:ext cx="59150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6616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Giải quyết </a:t>
            </a:r>
            <a:r>
              <a:rPr lang="en-US" dirty="0" err="1"/>
              <a:t>đụng</a:t>
            </a:r>
            <a:r>
              <a:rPr lang="en-US" dirty="0"/>
              <a:t> </a:t>
            </a:r>
            <a:r>
              <a:rPr lang="en-US" dirty="0" err="1"/>
              <a:t>độ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Phuơng</a:t>
            </a:r>
            <a:r>
              <a:rPr lang="en-US" dirty="0" smtClean="0"/>
              <a:t> pháp </a:t>
            </a:r>
            <a:r>
              <a:rPr lang="en-US" dirty="0" smtClean="0"/>
              <a:t>dò </a:t>
            </a:r>
            <a:r>
              <a:rPr lang="en-US" dirty="0" err="1" smtClean="0"/>
              <a:t>tuyến</a:t>
            </a:r>
            <a:r>
              <a:rPr lang="en-US" dirty="0" smtClean="0"/>
              <a:t> tính</a:t>
            </a:r>
          </a:p>
          <a:p>
            <a:endParaRPr lang="en-US" dirty="0"/>
          </a:p>
          <a:p>
            <a:r>
              <a:rPr lang="vi-VN" dirty="0"/>
              <a:t>Hàm băm lại lần i được biểu diễn bằng công thức sau: </a:t>
            </a:r>
          </a:p>
          <a:p>
            <a:r>
              <a:rPr lang="en-US" b="1" i="1" dirty="0"/>
              <a:t>f(key) = (f(key)+</a:t>
            </a:r>
            <a:r>
              <a:rPr lang="en-US" b="1" i="1" dirty="0" err="1"/>
              <a:t>i</a:t>
            </a:r>
            <a:r>
              <a:rPr lang="en-US" b="1" i="1" dirty="0"/>
              <a:t>) %M </a:t>
            </a:r>
            <a:endParaRPr lang="en-US" dirty="0"/>
          </a:p>
          <a:p>
            <a:r>
              <a:rPr lang="en-US" dirty="0" smtClean="0"/>
              <a:t>Trong </a:t>
            </a:r>
            <a:r>
              <a:rPr lang="en-US" dirty="0"/>
              <a:t>đó f(key) là hàm </a:t>
            </a:r>
            <a:r>
              <a:rPr lang="en-US" dirty="0" err="1"/>
              <a:t>băm</a:t>
            </a:r>
            <a:r>
              <a:rPr lang="en-US" dirty="0"/>
              <a:t> chính của bảng </a:t>
            </a:r>
            <a:r>
              <a:rPr lang="en-US" dirty="0" err="1"/>
              <a:t>băm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3479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Dò </a:t>
            </a:r>
            <a:r>
              <a:rPr lang="en-US" dirty="0" err="1" smtClean="0"/>
              <a:t>tuyến</a:t>
            </a:r>
            <a:r>
              <a:rPr lang="en-US" dirty="0" smtClean="0"/>
              <a:t> tính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733" y="3031457"/>
            <a:ext cx="7867650" cy="2647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733" y="1710992"/>
            <a:ext cx="74485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0639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Giải quyết </a:t>
            </a:r>
            <a:r>
              <a:rPr lang="en-US" dirty="0" err="1"/>
              <a:t>đụng</a:t>
            </a:r>
            <a:r>
              <a:rPr lang="en-US" dirty="0"/>
              <a:t> </a:t>
            </a:r>
            <a:r>
              <a:rPr lang="en-US" dirty="0" err="1"/>
              <a:t>độ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Tương tự dò tuần tự nhưng hàm băm lại lần thứ i được biểu diễn bằng công thức sau: </a:t>
            </a:r>
          </a:p>
          <a:p>
            <a:r>
              <a:rPr lang="en-US" b="1" i="1" dirty="0"/>
              <a:t>fi(key) = (f(key)+</a:t>
            </a:r>
            <a:r>
              <a:rPr lang="en-US" b="1" i="1" dirty="0" smtClean="0"/>
              <a:t>i^2</a:t>
            </a:r>
            <a:r>
              <a:rPr lang="en-US" b="1" i="1" dirty="0"/>
              <a:t>) %M </a:t>
            </a:r>
            <a:endParaRPr lang="en-US" dirty="0"/>
          </a:p>
          <a:p>
            <a:r>
              <a:rPr lang="en-US" dirty="0"/>
              <a:t>Trong đó: f(key) là hàm </a:t>
            </a:r>
            <a:r>
              <a:rPr lang="en-US" dirty="0" err="1"/>
              <a:t>băm</a:t>
            </a:r>
            <a:r>
              <a:rPr lang="en-US" dirty="0"/>
              <a:t> chính của bảng </a:t>
            </a:r>
            <a:r>
              <a:rPr lang="en-US" dirty="0" err="1"/>
              <a:t>băm</a:t>
            </a:r>
            <a:r>
              <a:rPr lang="en-US" dirty="0"/>
              <a:t>. </a:t>
            </a:r>
          </a:p>
          <a:p>
            <a:r>
              <a:rPr lang="en-US" dirty="0"/>
              <a:t>Nếu đã dò đến cuối bảng thì </a:t>
            </a:r>
            <a:r>
              <a:rPr lang="en-US" dirty="0" err="1"/>
              <a:t>trở</a:t>
            </a:r>
            <a:r>
              <a:rPr lang="en-US" dirty="0"/>
              <a:t> về dò lại từ </a:t>
            </a:r>
            <a:r>
              <a:rPr lang="en-US" dirty="0" err="1"/>
              <a:t>đầu</a:t>
            </a:r>
            <a:r>
              <a:rPr lang="en-US" dirty="0"/>
              <a:t> bảng. </a:t>
            </a:r>
          </a:p>
        </p:txBody>
      </p:sp>
    </p:spTree>
    <p:extLst>
      <p:ext uri="{BB962C8B-B14F-4D97-AF65-F5344CB8AC3E}">
        <p14:creationId xmlns:p14="http://schemas.microsoft.com/office/powerpoint/2010/main" val="30835680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Giải quyết </a:t>
            </a:r>
            <a:r>
              <a:rPr lang="en-US" dirty="0" err="1"/>
              <a:t>đụng</a:t>
            </a:r>
            <a:r>
              <a:rPr lang="en-US" dirty="0"/>
              <a:t> </a:t>
            </a:r>
            <a:r>
              <a:rPr lang="en-US" dirty="0" err="1"/>
              <a:t>độ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kép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h1(key)= key %M.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h2(key) =(M-2)-key %(M-2). </a:t>
            </a:r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H(key)=(h1(k)+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*h2(k)) Mod 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2771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Bài 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Bài 1: </a:t>
            </a:r>
            <a:r>
              <a:rPr lang="vi-VN" sz="2800" dirty="0" smtClean="0"/>
              <a:t>Cho </a:t>
            </a:r>
            <a:r>
              <a:rPr lang="vi-VN" sz="2800" dirty="0"/>
              <a:t>bảng băm có kích thước M = 11. Hàm </a:t>
            </a:r>
            <a:br>
              <a:rPr lang="vi-VN" sz="2800" dirty="0"/>
            </a:br>
            <a:r>
              <a:rPr lang="vi-VN" sz="2800" dirty="0"/>
              <a:t>băm: h(k) = k mod M. Dùng phương pháp địa </a:t>
            </a:r>
            <a:br>
              <a:rPr lang="vi-VN" sz="2800" dirty="0"/>
            </a:br>
            <a:r>
              <a:rPr lang="vi-VN" sz="2800" dirty="0"/>
              <a:t>chỉ mở. Cho biết kết quả sau khi thêm vào </a:t>
            </a:r>
            <a:br>
              <a:rPr lang="vi-VN" sz="2800" dirty="0"/>
            </a:br>
            <a:r>
              <a:rPr lang="vi-VN" sz="2800" dirty="0"/>
              <a:t>bảng băm các khóa 10, 22, 31, 4, 15, 28, 17, </a:t>
            </a:r>
            <a:br>
              <a:rPr lang="vi-VN" sz="2800" dirty="0"/>
            </a:br>
            <a:r>
              <a:rPr lang="vi-VN" sz="2800" dirty="0"/>
              <a:t>88, 59, với 3 phương pháp xử lý đụng độ</a:t>
            </a:r>
            <a:r>
              <a:rPr lang="vi-VN" sz="2800" dirty="0" smtClean="0"/>
              <a:t>:</a:t>
            </a:r>
            <a:endParaRPr lang="en-US" sz="2800" dirty="0" smtClean="0"/>
          </a:p>
          <a:p>
            <a:pPr marL="0" indent="0">
              <a:buNone/>
            </a:pPr>
            <a:r>
              <a:rPr lang="vi-VN" sz="2800" dirty="0"/>
              <a:t/>
            </a:r>
            <a:br>
              <a:rPr lang="vi-VN" sz="2800" dirty="0"/>
            </a:br>
            <a:r>
              <a:rPr lang="vi-VN" sz="2800" b="1" dirty="0"/>
              <a:t>a. Dò tuyến tính.</a:t>
            </a:r>
            <a:br>
              <a:rPr lang="vi-VN" sz="2800" b="1" dirty="0"/>
            </a:br>
            <a:r>
              <a:rPr lang="vi-VN" sz="2800" b="1" dirty="0"/>
              <a:t>b. Dò bậc 2.</a:t>
            </a:r>
            <a:br>
              <a:rPr lang="vi-VN" sz="2800" b="1" dirty="0"/>
            </a:br>
            <a:r>
              <a:rPr lang="vi-VN" sz="2800" b="1" dirty="0"/>
              <a:t>c. Băm kép h2(k) = (k mod 19)+1.</a:t>
            </a:r>
            <a:r>
              <a:rPr lang="vi-VN" sz="2800" dirty="0"/>
              <a:t/>
            </a:r>
            <a:br>
              <a:rPr lang="vi-VN" sz="2800" dirty="0"/>
            </a:br>
            <a:r>
              <a:rPr lang="vi-VN" sz="2800" dirty="0"/>
              <a:t/>
            </a:r>
            <a:br>
              <a:rPr lang="vi-VN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02127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Bài 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Bài 2: </a:t>
            </a:r>
            <a:r>
              <a:rPr lang="vi-VN" dirty="0" smtClean="0"/>
              <a:t>Viết </a:t>
            </a:r>
            <a:r>
              <a:rPr lang="vi-VN" dirty="0"/>
              <a:t>lại chương </a:t>
            </a:r>
            <a:r>
              <a:rPr lang="vi-VN" dirty="0" smtClean="0"/>
              <a:t>trình</a:t>
            </a:r>
            <a:r>
              <a:rPr lang="en-US" dirty="0" smtClean="0"/>
              <a:t>(GV cung cấp)</a:t>
            </a:r>
            <a:r>
              <a:rPr lang="vi-VN" dirty="0" smtClean="0"/>
              <a:t>, </a:t>
            </a:r>
            <a:r>
              <a:rPr lang="vi-VN" dirty="0"/>
              <a:t>cho phép người dùng tự nhập số lượng giá trị k và thông tin của SV cần đưa vào bảng </a:t>
            </a:r>
            <a:r>
              <a:rPr lang="vi-VN" dirty="0" smtClean="0"/>
              <a:t>băm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17758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Bài 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1439"/>
            <a:ext cx="10972800" cy="478472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Bài 3: </a:t>
            </a:r>
            <a:r>
              <a:rPr lang="en-US" dirty="0" err="1" smtClean="0"/>
              <a:t>Áp</a:t>
            </a:r>
            <a:r>
              <a:rPr lang="en-US" dirty="0" smtClean="0"/>
              <a:t> dụng các phương pháp sau để giải quyết </a:t>
            </a:r>
            <a:r>
              <a:rPr lang="en-US" dirty="0" err="1" smtClean="0"/>
              <a:t>đụng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en-US" dirty="0"/>
          </a:p>
          <a:p>
            <a:r>
              <a:rPr lang="en-US" dirty="0" smtClean="0"/>
              <a:t>P</a:t>
            </a:r>
            <a:r>
              <a:rPr lang="vi-VN" dirty="0" smtClean="0"/>
              <a:t>hương </a:t>
            </a:r>
            <a:r>
              <a:rPr lang="vi-VN" dirty="0"/>
              <a:t>pháp nối kết </a:t>
            </a:r>
            <a:endParaRPr lang="en-US" dirty="0" smtClean="0"/>
          </a:p>
          <a:p>
            <a:r>
              <a:rPr lang="en-US" dirty="0" smtClean="0"/>
              <a:t>P</a:t>
            </a:r>
            <a:r>
              <a:rPr lang="vi-VN" dirty="0" smtClean="0"/>
              <a:t>hương pháp dò </a:t>
            </a:r>
            <a:r>
              <a:rPr lang="vi-VN" dirty="0"/>
              <a:t>tuyến </a:t>
            </a:r>
            <a:r>
              <a:rPr lang="vi-VN" dirty="0" smtClean="0"/>
              <a:t>tính </a:t>
            </a:r>
            <a:endParaRPr lang="en-US" dirty="0" smtClean="0"/>
          </a:p>
          <a:p>
            <a:r>
              <a:rPr lang="en-US" dirty="0" smtClean="0"/>
              <a:t>P</a:t>
            </a:r>
            <a:r>
              <a:rPr lang="vi-VN" dirty="0" smtClean="0"/>
              <a:t>hương </a:t>
            </a:r>
            <a:r>
              <a:rPr lang="vi-VN" dirty="0"/>
              <a:t>pháp </a:t>
            </a:r>
            <a:r>
              <a:rPr lang="vi-VN" dirty="0" smtClean="0"/>
              <a:t>dò </a:t>
            </a:r>
            <a:r>
              <a:rPr lang="vi-VN" dirty="0"/>
              <a:t>bậc </a:t>
            </a:r>
            <a:r>
              <a:rPr lang="vi-VN" dirty="0" smtClean="0"/>
              <a:t>2 </a:t>
            </a:r>
            <a:endParaRPr lang="en-US" dirty="0" smtClean="0"/>
          </a:p>
          <a:p>
            <a:r>
              <a:rPr lang="en-US" dirty="0" smtClean="0"/>
              <a:t>P</a:t>
            </a:r>
            <a:r>
              <a:rPr lang="vi-VN" dirty="0" smtClean="0"/>
              <a:t>hương </a:t>
            </a:r>
            <a:r>
              <a:rPr lang="vi-VN" dirty="0"/>
              <a:t>pháp </a:t>
            </a:r>
            <a:r>
              <a:rPr lang="vi-VN" dirty="0" smtClean="0"/>
              <a:t>băm kép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25926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eme1">
  <a:themeElements>
    <a:clrScheme name="Default Design 1">
      <a:dk1>
        <a:srgbClr val="000000"/>
      </a:dk1>
      <a:lt1>
        <a:srgbClr val="B4E3EE"/>
      </a:lt1>
      <a:dk2>
        <a:srgbClr val="189180"/>
      </a:dk2>
      <a:lt2>
        <a:srgbClr val="808080"/>
      </a:lt2>
      <a:accent1>
        <a:srgbClr val="FF7F00"/>
      </a:accent1>
      <a:accent2>
        <a:srgbClr val="B3DC27"/>
      </a:accent2>
      <a:accent3>
        <a:srgbClr val="D6EFF5"/>
      </a:accent3>
      <a:accent4>
        <a:srgbClr val="000000"/>
      </a:accent4>
      <a:accent5>
        <a:srgbClr val="FFC0AA"/>
      </a:accent5>
      <a:accent6>
        <a:srgbClr val="A2C722"/>
      </a:accent6>
      <a:hlink>
        <a:srgbClr val="6FB9D7"/>
      </a:hlink>
      <a:folHlink>
        <a:srgbClr val="F93D17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B4E3EE"/>
        </a:lt1>
        <a:dk2>
          <a:srgbClr val="189180"/>
        </a:dk2>
        <a:lt2>
          <a:srgbClr val="808080"/>
        </a:lt2>
        <a:accent1>
          <a:srgbClr val="FF7F00"/>
        </a:accent1>
        <a:accent2>
          <a:srgbClr val="B3DC27"/>
        </a:accent2>
        <a:accent3>
          <a:srgbClr val="D6EFF5"/>
        </a:accent3>
        <a:accent4>
          <a:srgbClr val="000000"/>
        </a:accent4>
        <a:accent5>
          <a:srgbClr val="FFC0AA"/>
        </a:accent5>
        <a:accent6>
          <a:srgbClr val="A2C722"/>
        </a:accent6>
        <a:hlink>
          <a:srgbClr val="6FB9D7"/>
        </a:hlink>
        <a:folHlink>
          <a:srgbClr val="F93D1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EE384"/>
        </a:lt1>
        <a:dk2>
          <a:srgbClr val="FD8334"/>
        </a:dk2>
        <a:lt2>
          <a:srgbClr val="808080"/>
        </a:lt2>
        <a:accent1>
          <a:srgbClr val="F98EB2"/>
        </a:accent1>
        <a:accent2>
          <a:srgbClr val="FCB43E"/>
        </a:accent2>
        <a:accent3>
          <a:srgbClr val="FEEFC2"/>
        </a:accent3>
        <a:accent4>
          <a:srgbClr val="000000"/>
        </a:accent4>
        <a:accent5>
          <a:srgbClr val="FBC6D5"/>
        </a:accent5>
        <a:accent6>
          <a:srgbClr val="E4A337"/>
        </a:accent6>
        <a:hlink>
          <a:srgbClr val="FA6D73"/>
        </a:hlink>
        <a:folHlink>
          <a:srgbClr val="D264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4E1EE"/>
        </a:lt1>
        <a:dk2>
          <a:srgbClr val="2F84AF"/>
        </a:dk2>
        <a:lt2>
          <a:srgbClr val="808080"/>
        </a:lt2>
        <a:accent1>
          <a:srgbClr val="9899C1"/>
        </a:accent1>
        <a:accent2>
          <a:srgbClr val="4BBAC3"/>
        </a:accent2>
        <a:accent3>
          <a:srgbClr val="E6EEF5"/>
        </a:accent3>
        <a:accent4>
          <a:srgbClr val="000000"/>
        </a:accent4>
        <a:accent5>
          <a:srgbClr val="CACADD"/>
        </a:accent5>
        <a:accent6>
          <a:srgbClr val="43A8B0"/>
        </a:accent6>
        <a:hlink>
          <a:srgbClr val="7AC5B9"/>
        </a:hlink>
        <a:folHlink>
          <a:srgbClr val="719F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94C142F8-E73F-404E-91C7-672676B14012}" vid="{A21B9A24-F811-4612-B410-23B3F083D6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1295</TotalTime>
  <Words>452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Times New Roman</vt:lpstr>
      <vt:lpstr>Theme1</vt:lpstr>
      <vt:lpstr>Bảng băm</vt:lpstr>
      <vt:lpstr>Lý thuyết về bảng băm</vt:lpstr>
      <vt:lpstr>Hàm băm</vt:lpstr>
      <vt:lpstr>Hàm băm</vt:lpstr>
      <vt:lpstr> Hàm Băm sử dụng Phương pháp chia</vt:lpstr>
      <vt:lpstr>Hàm Băm sử dụng Phương pháp nhân</vt:lpstr>
      <vt:lpstr>Phép băm phổ quát</vt:lpstr>
      <vt:lpstr>Xung đột</vt:lpstr>
      <vt:lpstr>Giải quyết đụng độ</vt:lpstr>
      <vt:lpstr>Giải quyết đụng độ</vt:lpstr>
      <vt:lpstr>Dò tuyến tính</vt:lpstr>
      <vt:lpstr>Giải quyết đụng độ</vt:lpstr>
      <vt:lpstr>Giải quyết đụng độ</vt:lpstr>
      <vt:lpstr>Bài tập</vt:lpstr>
      <vt:lpstr>Bài tập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Bảng băm</dc:title>
  <dc:creator>Nguyen Huy</dc:creator>
  <cp:lastModifiedBy>Nguyen Huy</cp:lastModifiedBy>
  <cp:revision>24</cp:revision>
  <dcterms:created xsi:type="dcterms:W3CDTF">2021-10-01T20:00:34Z</dcterms:created>
  <dcterms:modified xsi:type="dcterms:W3CDTF">2021-10-27T10:36:05Z</dcterms:modified>
</cp:coreProperties>
</file>