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7" r:id="rId4"/>
    <p:sldId id="295" r:id="rId5"/>
    <p:sldId id="297" r:id="rId6"/>
    <p:sldId id="298" r:id="rId7"/>
    <p:sldId id="300" r:id="rId8"/>
    <p:sldId id="299" r:id="rId9"/>
    <p:sldId id="302" r:id="rId10"/>
    <p:sldId id="303" r:id="rId11"/>
    <p:sldId id="304" r:id="rId12"/>
    <p:sldId id="306" r:id="rId13"/>
    <p:sldId id="307" r:id="rId14"/>
    <p:sldId id="308" r:id="rId15"/>
    <p:sldId id="312" r:id="rId16"/>
    <p:sldId id="313" r:id="rId17"/>
    <p:sldId id="318" r:id="rId18"/>
    <p:sldId id="314" r:id="rId19"/>
    <p:sldId id="315" r:id="rId20"/>
    <p:sldId id="316" r:id="rId21"/>
    <p:sldId id="317" r:id="rId22"/>
    <p:sldId id="268" r:id="rId23"/>
    <p:sldId id="319" r:id="rId24"/>
    <p:sldId id="294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FB9D7"/>
    <a:srgbClr val="808080"/>
    <a:srgbClr val="969696"/>
    <a:srgbClr val="FF7F00"/>
    <a:srgbClr val="000000"/>
    <a:srgbClr val="333333"/>
    <a:srgbClr val="EC2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60"/>
  </p:normalViewPr>
  <p:slideViewPr>
    <p:cSldViewPr>
      <p:cViewPr>
        <p:scale>
          <a:sx n="75" d="100"/>
          <a:sy n="75" d="100"/>
        </p:scale>
        <p:origin x="1122" y="-15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5F80AA2-6820-4B0B-81ED-8F5913E2AA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416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F80AA2-6820-4B0B-81ED-8F5913E2AA70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114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F80AA2-6820-4B0B-81ED-8F5913E2AA70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260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Freeform 12"/>
          <p:cNvSpPr>
            <a:spLocks/>
          </p:cNvSpPr>
          <p:nvPr/>
        </p:nvSpPr>
        <p:spPr bwMode="gray">
          <a:xfrm>
            <a:off x="-9525" y="2997200"/>
            <a:ext cx="2205038" cy="2663825"/>
          </a:xfrm>
          <a:custGeom>
            <a:avLst/>
            <a:gdLst>
              <a:gd name="T0" fmla="*/ 0 w 1406"/>
              <a:gd name="T1" fmla="*/ 1678 h 1678"/>
              <a:gd name="T2" fmla="*/ 0 w 1406"/>
              <a:gd name="T3" fmla="*/ 1134 h 1678"/>
              <a:gd name="T4" fmla="*/ 1406 w 1406"/>
              <a:gd name="T5" fmla="*/ 0 h 1678"/>
              <a:gd name="T6" fmla="*/ 1406 w 1406"/>
              <a:gd name="T7" fmla="*/ 91 h 1678"/>
              <a:gd name="T8" fmla="*/ 0 w 1406"/>
              <a:gd name="T9" fmla="*/ 1678 h 1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6" h="1678">
                <a:moveTo>
                  <a:pt x="0" y="1678"/>
                </a:moveTo>
                <a:lnTo>
                  <a:pt x="0" y="1134"/>
                </a:lnTo>
                <a:lnTo>
                  <a:pt x="1406" y="0"/>
                </a:lnTo>
                <a:lnTo>
                  <a:pt x="1406" y="91"/>
                </a:lnTo>
                <a:lnTo>
                  <a:pt x="0" y="1678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103" name="Picture 7" descr="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47800" y="1782763"/>
            <a:ext cx="735965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4" name="Freeform 8"/>
          <p:cNvSpPr>
            <a:spLocks/>
          </p:cNvSpPr>
          <p:nvPr/>
        </p:nvSpPr>
        <p:spPr bwMode="gray">
          <a:xfrm>
            <a:off x="568325" y="-9525"/>
            <a:ext cx="1784350" cy="6875463"/>
          </a:xfrm>
          <a:custGeom>
            <a:avLst/>
            <a:gdLst>
              <a:gd name="T0" fmla="*/ 0 w 1124"/>
              <a:gd name="T1" fmla="*/ 0 h 4343"/>
              <a:gd name="T2" fmla="*/ 490 w 1124"/>
              <a:gd name="T3" fmla="*/ 2 h 4343"/>
              <a:gd name="T4" fmla="*/ 1124 w 1124"/>
              <a:gd name="T5" fmla="*/ 1373 h 4343"/>
              <a:gd name="T6" fmla="*/ 1124 w 1124"/>
              <a:gd name="T7" fmla="*/ 2036 h 4343"/>
              <a:gd name="T8" fmla="*/ 889 w 1124"/>
              <a:gd name="T9" fmla="*/ 4343 h 4343"/>
              <a:gd name="T10" fmla="*/ 526 w 1124"/>
              <a:gd name="T11" fmla="*/ 4343 h 4343"/>
              <a:gd name="T12" fmla="*/ 1079 w 1124"/>
              <a:gd name="T13" fmla="*/ 2031 h 4343"/>
              <a:gd name="T14" fmla="*/ 1079 w 1124"/>
              <a:gd name="T15" fmla="*/ 1383 h 4343"/>
              <a:gd name="T16" fmla="*/ 0 w 1124"/>
              <a:gd name="T17" fmla="*/ 0 h 4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24" h="4343">
                <a:moveTo>
                  <a:pt x="0" y="0"/>
                </a:moveTo>
                <a:lnTo>
                  <a:pt x="490" y="2"/>
                </a:lnTo>
                <a:lnTo>
                  <a:pt x="1124" y="1373"/>
                </a:lnTo>
                <a:lnTo>
                  <a:pt x="1124" y="2036"/>
                </a:lnTo>
                <a:lnTo>
                  <a:pt x="889" y="4343"/>
                </a:lnTo>
                <a:lnTo>
                  <a:pt x="526" y="4343"/>
                </a:lnTo>
                <a:lnTo>
                  <a:pt x="1079" y="2031"/>
                </a:lnTo>
                <a:lnTo>
                  <a:pt x="1079" y="13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Freeform 9"/>
          <p:cNvSpPr>
            <a:spLocks/>
          </p:cNvSpPr>
          <p:nvPr/>
        </p:nvSpPr>
        <p:spPr bwMode="gray">
          <a:xfrm>
            <a:off x="-12700" y="-9525"/>
            <a:ext cx="2392363" cy="6880225"/>
          </a:xfrm>
          <a:custGeom>
            <a:avLst/>
            <a:gdLst>
              <a:gd name="T0" fmla="*/ 181 w 1507"/>
              <a:gd name="T1" fmla="*/ 0 h 4334"/>
              <a:gd name="T2" fmla="*/ 1507 w 1507"/>
              <a:gd name="T3" fmla="*/ 1379 h 4334"/>
              <a:gd name="T4" fmla="*/ 1507 w 1507"/>
              <a:gd name="T5" fmla="*/ 2036 h 4334"/>
              <a:gd name="T6" fmla="*/ 727 w 1507"/>
              <a:gd name="T7" fmla="*/ 4334 h 4334"/>
              <a:gd name="T8" fmla="*/ 2 w 1507"/>
              <a:gd name="T9" fmla="*/ 4334 h 4334"/>
              <a:gd name="T10" fmla="*/ 2 w 1507"/>
              <a:gd name="T11" fmla="*/ 4162 h 4334"/>
              <a:gd name="T12" fmla="*/ 1441 w 1507"/>
              <a:gd name="T13" fmla="*/ 1936 h 4334"/>
              <a:gd name="T14" fmla="*/ 1441 w 1507"/>
              <a:gd name="T15" fmla="*/ 1447 h 4334"/>
              <a:gd name="T16" fmla="*/ 8 w 1507"/>
              <a:gd name="T17" fmla="*/ 434 h 4334"/>
              <a:gd name="T18" fmla="*/ 0 w 1507"/>
              <a:gd name="T19" fmla="*/ 6 h 4334"/>
              <a:gd name="T20" fmla="*/ 181 w 1507"/>
              <a:gd name="T21" fmla="*/ 0 h 4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507" h="4334">
                <a:moveTo>
                  <a:pt x="181" y="0"/>
                </a:moveTo>
                <a:lnTo>
                  <a:pt x="1507" y="1379"/>
                </a:lnTo>
                <a:lnTo>
                  <a:pt x="1507" y="2036"/>
                </a:lnTo>
                <a:lnTo>
                  <a:pt x="727" y="4334"/>
                </a:lnTo>
                <a:lnTo>
                  <a:pt x="2" y="4334"/>
                </a:lnTo>
                <a:lnTo>
                  <a:pt x="2" y="4162"/>
                </a:lnTo>
                <a:lnTo>
                  <a:pt x="1441" y="1936"/>
                </a:lnTo>
                <a:lnTo>
                  <a:pt x="1441" y="1447"/>
                </a:lnTo>
                <a:lnTo>
                  <a:pt x="8" y="434"/>
                </a:lnTo>
                <a:lnTo>
                  <a:pt x="0" y="6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Freeform 10"/>
          <p:cNvSpPr>
            <a:spLocks/>
          </p:cNvSpPr>
          <p:nvPr/>
        </p:nvSpPr>
        <p:spPr bwMode="gray">
          <a:xfrm>
            <a:off x="2557463" y="0"/>
            <a:ext cx="3022600" cy="6858000"/>
          </a:xfrm>
          <a:custGeom>
            <a:avLst/>
            <a:gdLst>
              <a:gd name="T0" fmla="*/ 1904 w 1904"/>
              <a:gd name="T1" fmla="*/ 0 h 4354"/>
              <a:gd name="T2" fmla="*/ 1178 w 1904"/>
              <a:gd name="T3" fmla="*/ 0 h 4354"/>
              <a:gd name="T4" fmla="*/ 0 w 1904"/>
              <a:gd name="T5" fmla="*/ 1342 h 4354"/>
              <a:gd name="T6" fmla="*/ 0 w 1904"/>
              <a:gd name="T7" fmla="*/ 1950 h 4354"/>
              <a:gd name="T8" fmla="*/ 498 w 1904"/>
              <a:gd name="T9" fmla="*/ 4354 h 4354"/>
              <a:gd name="T10" fmla="*/ 1088 w 1904"/>
              <a:gd name="T11" fmla="*/ 4354 h 4354"/>
              <a:gd name="T12" fmla="*/ 44 w 1904"/>
              <a:gd name="T13" fmla="*/ 1985 h 4354"/>
              <a:gd name="T14" fmla="*/ 44 w 1904"/>
              <a:gd name="T15" fmla="*/ 1361 h 4354"/>
              <a:gd name="T16" fmla="*/ 1904 w 1904"/>
              <a:gd name="T17" fmla="*/ 0 h 4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04" h="4354">
                <a:moveTo>
                  <a:pt x="1904" y="0"/>
                </a:moveTo>
                <a:lnTo>
                  <a:pt x="1178" y="0"/>
                </a:lnTo>
                <a:lnTo>
                  <a:pt x="0" y="1342"/>
                </a:lnTo>
                <a:lnTo>
                  <a:pt x="0" y="1950"/>
                </a:lnTo>
                <a:lnTo>
                  <a:pt x="498" y="4354"/>
                </a:lnTo>
                <a:lnTo>
                  <a:pt x="1088" y="4354"/>
                </a:lnTo>
                <a:lnTo>
                  <a:pt x="44" y="1985"/>
                </a:lnTo>
                <a:lnTo>
                  <a:pt x="44" y="1361"/>
                </a:lnTo>
                <a:lnTo>
                  <a:pt x="1904" y="0"/>
                </a:lnTo>
                <a:close/>
              </a:path>
            </a:pathLst>
          </a:custGeom>
          <a:solidFill>
            <a:srgbClr val="D3D3D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7" name="Freeform 11"/>
          <p:cNvSpPr>
            <a:spLocks/>
          </p:cNvSpPr>
          <p:nvPr/>
        </p:nvSpPr>
        <p:spPr bwMode="gray">
          <a:xfrm>
            <a:off x="2959100" y="-14288"/>
            <a:ext cx="2711450" cy="1887538"/>
          </a:xfrm>
          <a:custGeom>
            <a:avLst/>
            <a:gdLst>
              <a:gd name="T0" fmla="*/ 1708 w 1708"/>
              <a:gd name="T1" fmla="*/ 1 h 1189"/>
              <a:gd name="T2" fmla="*/ 1379 w 1708"/>
              <a:gd name="T3" fmla="*/ 0 h 1189"/>
              <a:gd name="T4" fmla="*/ 0 w 1708"/>
              <a:gd name="T5" fmla="*/ 1189 h 1189"/>
              <a:gd name="T6" fmla="*/ 1708 w 1708"/>
              <a:gd name="T7" fmla="*/ 1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08" h="1189">
                <a:moveTo>
                  <a:pt x="1708" y="1"/>
                </a:moveTo>
                <a:lnTo>
                  <a:pt x="1379" y="0"/>
                </a:lnTo>
                <a:lnTo>
                  <a:pt x="0" y="1189"/>
                </a:lnTo>
                <a:lnTo>
                  <a:pt x="1708" y="1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9" name="Freeform 13"/>
          <p:cNvSpPr>
            <a:spLocks/>
          </p:cNvSpPr>
          <p:nvPr/>
        </p:nvSpPr>
        <p:spPr bwMode="gray">
          <a:xfrm>
            <a:off x="2498725" y="-9525"/>
            <a:ext cx="6105525" cy="6867525"/>
          </a:xfrm>
          <a:custGeom>
            <a:avLst/>
            <a:gdLst>
              <a:gd name="T0" fmla="*/ 3665 w 3846"/>
              <a:gd name="T1" fmla="*/ 0 h 4354"/>
              <a:gd name="T2" fmla="*/ 2122 w 3846"/>
              <a:gd name="T3" fmla="*/ 0 h 4354"/>
              <a:gd name="T4" fmla="*/ 0 w 3846"/>
              <a:gd name="T5" fmla="*/ 1339 h 4354"/>
              <a:gd name="T6" fmla="*/ 0 w 3846"/>
              <a:gd name="T7" fmla="*/ 1950 h 4354"/>
              <a:gd name="T8" fmla="*/ 1215 w 3846"/>
              <a:gd name="T9" fmla="*/ 4354 h 4354"/>
              <a:gd name="T10" fmla="*/ 1941 w 3846"/>
              <a:gd name="T11" fmla="*/ 4354 h 4354"/>
              <a:gd name="T12" fmla="*/ 72 w 3846"/>
              <a:gd name="T13" fmla="*/ 1877 h 4354"/>
              <a:gd name="T14" fmla="*/ 72 w 3846"/>
              <a:gd name="T15" fmla="*/ 1361 h 4354"/>
              <a:gd name="T16" fmla="*/ 3846 w 3846"/>
              <a:gd name="T17" fmla="*/ 0 h 4354"/>
              <a:gd name="T18" fmla="*/ 2122 w 3846"/>
              <a:gd name="T19" fmla="*/ 0 h 4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46" h="4354">
                <a:moveTo>
                  <a:pt x="3665" y="0"/>
                </a:moveTo>
                <a:lnTo>
                  <a:pt x="2122" y="0"/>
                </a:lnTo>
                <a:lnTo>
                  <a:pt x="0" y="1339"/>
                </a:lnTo>
                <a:lnTo>
                  <a:pt x="0" y="1950"/>
                </a:lnTo>
                <a:lnTo>
                  <a:pt x="1215" y="4354"/>
                </a:lnTo>
                <a:lnTo>
                  <a:pt x="1941" y="4354"/>
                </a:lnTo>
                <a:lnTo>
                  <a:pt x="72" y="1877"/>
                </a:lnTo>
                <a:lnTo>
                  <a:pt x="72" y="1361"/>
                </a:lnTo>
                <a:lnTo>
                  <a:pt x="3846" y="0"/>
                </a:lnTo>
                <a:lnTo>
                  <a:pt x="2122" y="0"/>
                </a:lnTo>
              </a:path>
            </a:pathLst>
          </a:cu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0" name="Freeform 14"/>
          <p:cNvSpPr>
            <a:spLocks/>
          </p:cNvSpPr>
          <p:nvPr/>
        </p:nvSpPr>
        <p:spPr bwMode="gray">
          <a:xfrm>
            <a:off x="-9525" y="185738"/>
            <a:ext cx="2246313" cy="5984875"/>
          </a:xfrm>
          <a:custGeom>
            <a:avLst/>
            <a:gdLst>
              <a:gd name="T0" fmla="*/ 0 w 1415"/>
              <a:gd name="T1" fmla="*/ 0 h 3770"/>
              <a:gd name="T2" fmla="*/ 1415 w 1415"/>
              <a:gd name="T3" fmla="*/ 1197 h 3770"/>
              <a:gd name="T4" fmla="*/ 1415 w 1415"/>
              <a:gd name="T5" fmla="*/ 1862 h 3770"/>
              <a:gd name="T6" fmla="*/ 0 w 1415"/>
              <a:gd name="T7" fmla="*/ 3770 h 3770"/>
              <a:gd name="T8" fmla="*/ 0 w 1415"/>
              <a:gd name="T9" fmla="*/ 3272 h 3770"/>
              <a:gd name="T10" fmla="*/ 1376 w 1415"/>
              <a:gd name="T11" fmla="*/ 1801 h 3770"/>
              <a:gd name="T12" fmla="*/ 1376 w 1415"/>
              <a:gd name="T13" fmla="*/ 1272 h 3770"/>
              <a:gd name="T14" fmla="*/ 6 w 1415"/>
              <a:gd name="T15" fmla="*/ 962 h 3770"/>
              <a:gd name="T16" fmla="*/ 0 w 1415"/>
              <a:gd name="T17" fmla="*/ 0 h 3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5" h="3770">
                <a:moveTo>
                  <a:pt x="0" y="0"/>
                </a:moveTo>
                <a:lnTo>
                  <a:pt x="1415" y="1197"/>
                </a:lnTo>
                <a:lnTo>
                  <a:pt x="1415" y="1862"/>
                </a:lnTo>
                <a:lnTo>
                  <a:pt x="0" y="3770"/>
                </a:lnTo>
                <a:lnTo>
                  <a:pt x="0" y="3272"/>
                </a:lnTo>
                <a:lnTo>
                  <a:pt x="1376" y="1801"/>
                </a:lnTo>
                <a:lnTo>
                  <a:pt x="1376" y="1272"/>
                </a:lnTo>
                <a:lnTo>
                  <a:pt x="6" y="9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1" name="Freeform 15"/>
          <p:cNvSpPr>
            <a:spLocks/>
          </p:cNvSpPr>
          <p:nvPr/>
        </p:nvSpPr>
        <p:spPr bwMode="gray">
          <a:xfrm>
            <a:off x="2608263" y="642938"/>
            <a:ext cx="6540500" cy="6215062"/>
          </a:xfrm>
          <a:custGeom>
            <a:avLst/>
            <a:gdLst>
              <a:gd name="T0" fmla="*/ 4115 w 4120"/>
              <a:gd name="T1" fmla="*/ 0 h 3915"/>
              <a:gd name="T2" fmla="*/ 4120 w 4120"/>
              <a:gd name="T3" fmla="*/ 500 h 3915"/>
              <a:gd name="T4" fmla="*/ 61 w 4120"/>
              <a:gd name="T5" fmla="*/ 1059 h 3915"/>
              <a:gd name="T6" fmla="*/ 61 w 4120"/>
              <a:gd name="T7" fmla="*/ 1466 h 3915"/>
              <a:gd name="T8" fmla="*/ 2419 w 4120"/>
              <a:gd name="T9" fmla="*/ 3915 h 3915"/>
              <a:gd name="T10" fmla="*/ 1830 w 4120"/>
              <a:gd name="T11" fmla="*/ 3915 h 3915"/>
              <a:gd name="T12" fmla="*/ 0 w 4120"/>
              <a:gd name="T13" fmla="*/ 1449 h 3915"/>
              <a:gd name="T14" fmla="*/ 0 w 4120"/>
              <a:gd name="T15" fmla="*/ 967 h 3915"/>
              <a:gd name="T16" fmla="*/ 4115 w 4120"/>
              <a:gd name="T17" fmla="*/ 0 h 3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20" h="3915">
                <a:moveTo>
                  <a:pt x="4115" y="0"/>
                </a:moveTo>
                <a:lnTo>
                  <a:pt x="4120" y="500"/>
                </a:lnTo>
                <a:lnTo>
                  <a:pt x="61" y="1059"/>
                </a:lnTo>
                <a:lnTo>
                  <a:pt x="61" y="1466"/>
                </a:lnTo>
                <a:lnTo>
                  <a:pt x="2419" y="3915"/>
                </a:lnTo>
                <a:lnTo>
                  <a:pt x="1830" y="3915"/>
                </a:lnTo>
                <a:lnTo>
                  <a:pt x="0" y="1449"/>
                </a:lnTo>
                <a:lnTo>
                  <a:pt x="0" y="967"/>
                </a:lnTo>
                <a:lnTo>
                  <a:pt x="4115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Freeform 16"/>
          <p:cNvSpPr>
            <a:spLocks/>
          </p:cNvSpPr>
          <p:nvPr/>
        </p:nvSpPr>
        <p:spPr bwMode="gray">
          <a:xfrm>
            <a:off x="2586038" y="-17463"/>
            <a:ext cx="6557962" cy="6875463"/>
          </a:xfrm>
          <a:custGeom>
            <a:avLst/>
            <a:gdLst>
              <a:gd name="T0" fmla="*/ 4131 w 4131"/>
              <a:gd name="T1" fmla="*/ 0 h 4348"/>
              <a:gd name="T2" fmla="*/ 4126 w 4131"/>
              <a:gd name="T3" fmla="*/ 494 h 4348"/>
              <a:gd name="T4" fmla="*/ 55 w 4131"/>
              <a:gd name="T5" fmla="*/ 1404 h 4348"/>
              <a:gd name="T6" fmla="*/ 55 w 4131"/>
              <a:gd name="T7" fmla="*/ 1853 h 4348"/>
              <a:gd name="T8" fmla="*/ 3156 w 4131"/>
              <a:gd name="T9" fmla="*/ 4348 h 4348"/>
              <a:gd name="T10" fmla="*/ 2067 w 4131"/>
              <a:gd name="T11" fmla="*/ 4348 h 4348"/>
              <a:gd name="T12" fmla="*/ 0 w 4131"/>
              <a:gd name="T13" fmla="*/ 1882 h 4348"/>
              <a:gd name="T14" fmla="*/ 0 w 4131"/>
              <a:gd name="T15" fmla="*/ 1355 h 4348"/>
              <a:gd name="T16" fmla="*/ 3615 w 4131"/>
              <a:gd name="T17" fmla="*/ 0 h 4348"/>
              <a:gd name="T18" fmla="*/ 4131 w 4131"/>
              <a:gd name="T19" fmla="*/ 0 h 4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31" h="4348">
                <a:moveTo>
                  <a:pt x="4131" y="0"/>
                </a:moveTo>
                <a:lnTo>
                  <a:pt x="4126" y="494"/>
                </a:lnTo>
                <a:lnTo>
                  <a:pt x="55" y="1404"/>
                </a:lnTo>
                <a:lnTo>
                  <a:pt x="55" y="1853"/>
                </a:lnTo>
                <a:lnTo>
                  <a:pt x="3156" y="4348"/>
                </a:lnTo>
                <a:lnTo>
                  <a:pt x="2067" y="4348"/>
                </a:lnTo>
                <a:lnTo>
                  <a:pt x="0" y="1882"/>
                </a:lnTo>
                <a:lnTo>
                  <a:pt x="0" y="1355"/>
                </a:lnTo>
                <a:lnTo>
                  <a:pt x="3615" y="0"/>
                </a:lnTo>
                <a:lnTo>
                  <a:pt x="413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3" name="Freeform 17"/>
          <p:cNvSpPr>
            <a:spLocks/>
          </p:cNvSpPr>
          <p:nvPr/>
        </p:nvSpPr>
        <p:spPr bwMode="gray">
          <a:xfrm>
            <a:off x="2771775" y="-26988"/>
            <a:ext cx="5761038" cy="2087563"/>
          </a:xfrm>
          <a:custGeom>
            <a:avLst/>
            <a:gdLst>
              <a:gd name="T0" fmla="*/ 0 w 3629"/>
              <a:gd name="T1" fmla="*/ 1315 h 1315"/>
              <a:gd name="T2" fmla="*/ 2858 w 3629"/>
              <a:gd name="T3" fmla="*/ 0 h 1315"/>
              <a:gd name="T4" fmla="*/ 3629 w 3629"/>
              <a:gd name="T5" fmla="*/ 0 h 1315"/>
              <a:gd name="T6" fmla="*/ 0 w 3629"/>
              <a:gd name="T7" fmla="*/ 1315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29" h="1315">
                <a:moveTo>
                  <a:pt x="0" y="1315"/>
                </a:moveTo>
                <a:lnTo>
                  <a:pt x="2858" y="0"/>
                </a:lnTo>
                <a:lnTo>
                  <a:pt x="3629" y="0"/>
                </a:lnTo>
                <a:lnTo>
                  <a:pt x="0" y="1315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4" name="Freeform 18"/>
          <p:cNvSpPr>
            <a:spLocks/>
          </p:cNvSpPr>
          <p:nvPr/>
        </p:nvSpPr>
        <p:spPr bwMode="gray">
          <a:xfrm>
            <a:off x="2555875" y="2924175"/>
            <a:ext cx="3384550" cy="3944938"/>
          </a:xfrm>
          <a:custGeom>
            <a:avLst/>
            <a:gdLst>
              <a:gd name="T0" fmla="*/ 0 w 2132"/>
              <a:gd name="T1" fmla="*/ 0 h 2495"/>
              <a:gd name="T2" fmla="*/ 2132 w 2132"/>
              <a:gd name="T3" fmla="*/ 2495 h 2495"/>
              <a:gd name="T4" fmla="*/ 1814 w 2132"/>
              <a:gd name="T5" fmla="*/ 2495 h 2495"/>
              <a:gd name="T6" fmla="*/ 0 w 2132"/>
              <a:gd name="T7" fmla="*/ 0 h 2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2" h="2495">
                <a:moveTo>
                  <a:pt x="0" y="0"/>
                </a:moveTo>
                <a:lnTo>
                  <a:pt x="2132" y="2495"/>
                </a:lnTo>
                <a:lnTo>
                  <a:pt x="1814" y="24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0" name="Freeform 24"/>
          <p:cNvSpPr>
            <a:spLocks/>
          </p:cNvSpPr>
          <p:nvPr/>
        </p:nvSpPr>
        <p:spPr bwMode="gray">
          <a:xfrm>
            <a:off x="-19050" y="180975"/>
            <a:ext cx="2262188" cy="1914525"/>
          </a:xfrm>
          <a:custGeom>
            <a:avLst/>
            <a:gdLst>
              <a:gd name="T0" fmla="*/ 1425 w 1425"/>
              <a:gd name="T1" fmla="*/ 1206 h 1206"/>
              <a:gd name="T2" fmla="*/ 0 w 1425"/>
              <a:gd name="T3" fmla="*/ 0 h 1206"/>
              <a:gd name="T4" fmla="*/ 0 w 1425"/>
              <a:gd name="T5" fmla="*/ 186 h 1206"/>
              <a:gd name="T6" fmla="*/ 1425 w 1425"/>
              <a:gd name="T7" fmla="*/ 1206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5" h="1206">
                <a:moveTo>
                  <a:pt x="1425" y="1206"/>
                </a:moveTo>
                <a:lnTo>
                  <a:pt x="0" y="0"/>
                </a:lnTo>
                <a:lnTo>
                  <a:pt x="0" y="186"/>
                </a:lnTo>
                <a:lnTo>
                  <a:pt x="1425" y="1206"/>
                </a:lnTo>
                <a:close/>
              </a:path>
            </a:pathLst>
          </a:custGeom>
          <a:solidFill>
            <a:srgbClr val="333333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1" name="Freeform 25"/>
          <p:cNvSpPr>
            <a:spLocks/>
          </p:cNvSpPr>
          <p:nvPr/>
        </p:nvSpPr>
        <p:spPr bwMode="gray">
          <a:xfrm>
            <a:off x="-12700" y="3105150"/>
            <a:ext cx="2327275" cy="3762375"/>
          </a:xfrm>
          <a:custGeom>
            <a:avLst/>
            <a:gdLst>
              <a:gd name="T0" fmla="*/ 0 w 1466"/>
              <a:gd name="T1" fmla="*/ 2248 h 2370"/>
              <a:gd name="T2" fmla="*/ 1466 w 1466"/>
              <a:gd name="T3" fmla="*/ 0 h 2370"/>
              <a:gd name="T4" fmla="*/ 194 w 1466"/>
              <a:gd name="T5" fmla="*/ 2370 h 2370"/>
              <a:gd name="T6" fmla="*/ 4 w 1466"/>
              <a:gd name="T7" fmla="*/ 2364 h 2370"/>
              <a:gd name="T8" fmla="*/ 0 w 1466"/>
              <a:gd name="T9" fmla="*/ 2248 h 2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66" h="2370">
                <a:moveTo>
                  <a:pt x="0" y="2248"/>
                </a:moveTo>
                <a:lnTo>
                  <a:pt x="1466" y="0"/>
                </a:lnTo>
                <a:lnTo>
                  <a:pt x="194" y="2370"/>
                </a:lnTo>
                <a:lnTo>
                  <a:pt x="4" y="2364"/>
                </a:lnTo>
                <a:lnTo>
                  <a:pt x="0" y="2248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2" name="Freeform 26"/>
          <p:cNvSpPr>
            <a:spLocks/>
          </p:cNvSpPr>
          <p:nvPr/>
        </p:nvSpPr>
        <p:spPr bwMode="gray">
          <a:xfrm>
            <a:off x="-9525" y="1403350"/>
            <a:ext cx="2317750" cy="5265738"/>
          </a:xfrm>
          <a:custGeom>
            <a:avLst/>
            <a:gdLst>
              <a:gd name="T0" fmla="*/ 6 w 1460"/>
              <a:gd name="T1" fmla="*/ 0 h 3317"/>
              <a:gd name="T2" fmla="*/ 6 w 1460"/>
              <a:gd name="T3" fmla="*/ 643 h 3317"/>
              <a:gd name="T4" fmla="*/ 1410 w 1460"/>
              <a:gd name="T5" fmla="*/ 564 h 3317"/>
              <a:gd name="T6" fmla="*/ 1410 w 1460"/>
              <a:gd name="T7" fmla="*/ 1049 h 3317"/>
              <a:gd name="T8" fmla="*/ 0 w 1460"/>
              <a:gd name="T9" fmla="*/ 2852 h 3317"/>
              <a:gd name="T10" fmla="*/ 0 w 1460"/>
              <a:gd name="T11" fmla="*/ 3317 h 3317"/>
              <a:gd name="T12" fmla="*/ 1460 w 1460"/>
              <a:gd name="T13" fmla="*/ 1062 h 3317"/>
              <a:gd name="T14" fmla="*/ 1460 w 1460"/>
              <a:gd name="T15" fmla="*/ 505 h 3317"/>
              <a:gd name="T16" fmla="*/ 6 w 1460"/>
              <a:gd name="T17" fmla="*/ 0 h 3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0" h="3317">
                <a:moveTo>
                  <a:pt x="6" y="0"/>
                </a:moveTo>
                <a:lnTo>
                  <a:pt x="6" y="643"/>
                </a:lnTo>
                <a:lnTo>
                  <a:pt x="1410" y="564"/>
                </a:lnTo>
                <a:lnTo>
                  <a:pt x="1410" y="1049"/>
                </a:lnTo>
                <a:lnTo>
                  <a:pt x="0" y="2852"/>
                </a:lnTo>
                <a:lnTo>
                  <a:pt x="0" y="3317"/>
                </a:lnTo>
                <a:lnTo>
                  <a:pt x="1460" y="1062"/>
                </a:lnTo>
                <a:lnTo>
                  <a:pt x="1460" y="505"/>
                </a:lnTo>
                <a:lnTo>
                  <a:pt x="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32" name="Group 36"/>
          <p:cNvGrpSpPr>
            <a:grpSpLocks/>
          </p:cNvGrpSpPr>
          <p:nvPr/>
        </p:nvGrpSpPr>
        <p:grpSpPr bwMode="auto">
          <a:xfrm>
            <a:off x="0" y="-19050"/>
            <a:ext cx="9153525" cy="6886575"/>
            <a:chOff x="0" y="0"/>
            <a:chExt cx="5760" cy="4326"/>
          </a:xfrm>
        </p:grpSpPr>
        <p:pic>
          <p:nvPicPr>
            <p:cNvPr id="4131" name="Picture 35" descr="11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0" y="0"/>
              <a:ext cx="5760" cy="4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3" name="Rectangle 27"/>
            <p:cNvSpPr>
              <a:spLocks noChangeArrowheads="1"/>
            </p:cNvSpPr>
            <p:nvPr userDrawn="1"/>
          </p:nvSpPr>
          <p:spPr bwMode="gray">
            <a:xfrm>
              <a:off x="212" y="462"/>
              <a:ext cx="5334" cy="3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4115" name="Picture 19" descr="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141788" y="4041775"/>
            <a:ext cx="415925" cy="41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5838" y="3787775"/>
            <a:ext cx="7772400" cy="88582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29150" y="3505200"/>
            <a:ext cx="4129088" cy="457200"/>
          </a:xfrm>
        </p:spPr>
        <p:txBody>
          <a:bodyPr/>
          <a:lstStyle>
            <a:lvl1pPr marL="0" indent="0" algn="dist">
              <a:buFontTx/>
              <a:buNone/>
              <a:defRPr sz="2000" b="1">
                <a:solidFill>
                  <a:srgbClr val="777777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4125" name="Text Box 29"/>
          <p:cNvSpPr txBox="1">
            <a:spLocks noChangeArrowheads="1"/>
          </p:cNvSpPr>
          <p:nvPr/>
        </p:nvSpPr>
        <p:spPr bwMode="gray">
          <a:xfrm>
            <a:off x="7561263" y="5476875"/>
            <a:ext cx="1196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 sz="2000">
                <a:solidFill>
                  <a:srgbClr val="FF7F00"/>
                </a:solidFill>
                <a:latin typeface="Arial Black" panose="020B0A04020102020204" pitchFamily="34" charset="0"/>
              </a:rPr>
              <a:t>L/O/G/O</a:t>
            </a:r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gray">
          <a:xfrm>
            <a:off x="6618288" y="5781675"/>
            <a:ext cx="2139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 sz="1600">
                <a:latin typeface="Times New Roman" panose="02020603050405020304" pitchFamily="18" charset="0"/>
              </a:rPr>
              <a:t>www.themegallery.com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17F7427-C84F-4D27-922E-55D885048A2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46" name="Rectangle 50"/>
          <p:cNvSpPr>
            <a:spLocks noChangeArrowheads="1"/>
          </p:cNvSpPr>
          <p:nvPr/>
        </p:nvSpPr>
        <p:spPr bwMode="gray">
          <a:xfrm>
            <a:off x="341313" y="722313"/>
            <a:ext cx="8478837" cy="541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EFD47E-C029-4974-8E90-7A6D993626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31430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1A4C48-6CFF-46DD-8746-264495820D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01117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75955-DE52-4E16-910A-6411C3852A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60969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546FD-5772-46DC-A6A0-8778C442B9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591385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785497-EE00-4808-B104-436740FC74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946146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52BA6-557E-4A1C-8EA0-8A12E00422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62954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67953-23B7-45A4-88A2-B313944A70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5560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4E5AD-DEF5-4478-A3D7-1A5CB5DBF1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87331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276FA-7855-467D-A6BA-EC8D65BE26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1833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8438"/>
            <a:ext cx="2057400" cy="59277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8438"/>
            <a:ext cx="6019800" cy="59277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16EC8-213D-450F-B7E1-73AEA0CEAC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68601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198438"/>
            <a:ext cx="630237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83325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83325"/>
            <a:ext cx="2895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83325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fld id="{DC6ECA90-F366-4579-AE95-ECAD340BA4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90626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Freeform 9"/>
          <p:cNvSpPr>
            <a:spLocks/>
          </p:cNvSpPr>
          <p:nvPr/>
        </p:nvSpPr>
        <p:spPr bwMode="gray">
          <a:xfrm>
            <a:off x="7658100" y="0"/>
            <a:ext cx="1104900" cy="6848475"/>
          </a:xfrm>
          <a:custGeom>
            <a:avLst/>
            <a:gdLst>
              <a:gd name="T0" fmla="*/ 312 w 696"/>
              <a:gd name="T1" fmla="*/ 0 h 4314"/>
              <a:gd name="T2" fmla="*/ 528 w 696"/>
              <a:gd name="T3" fmla="*/ 444 h 4314"/>
              <a:gd name="T4" fmla="*/ 696 w 696"/>
              <a:gd name="T5" fmla="*/ 960 h 4314"/>
              <a:gd name="T6" fmla="*/ 426 w 696"/>
              <a:gd name="T7" fmla="*/ 4314 h 4314"/>
              <a:gd name="T8" fmla="*/ 108 w 696"/>
              <a:gd name="T9" fmla="*/ 4314 h 4314"/>
              <a:gd name="T10" fmla="*/ 648 w 696"/>
              <a:gd name="T11" fmla="*/ 960 h 4314"/>
              <a:gd name="T12" fmla="*/ 456 w 696"/>
              <a:gd name="T13" fmla="*/ 432 h 4314"/>
              <a:gd name="T14" fmla="*/ 0 w 696"/>
              <a:gd name="T15" fmla="*/ 0 h 4314"/>
              <a:gd name="T16" fmla="*/ 312 w 696"/>
              <a:gd name="T17" fmla="*/ 0 h 4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6" h="4314">
                <a:moveTo>
                  <a:pt x="312" y="0"/>
                </a:moveTo>
                <a:lnTo>
                  <a:pt x="528" y="444"/>
                </a:lnTo>
                <a:lnTo>
                  <a:pt x="696" y="960"/>
                </a:lnTo>
                <a:lnTo>
                  <a:pt x="426" y="4314"/>
                </a:lnTo>
                <a:lnTo>
                  <a:pt x="108" y="4314"/>
                </a:lnTo>
                <a:lnTo>
                  <a:pt x="648" y="960"/>
                </a:lnTo>
                <a:lnTo>
                  <a:pt x="456" y="432"/>
                </a:lnTo>
                <a:lnTo>
                  <a:pt x="0" y="0"/>
                </a:lnTo>
                <a:lnTo>
                  <a:pt x="312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Freeform 10"/>
          <p:cNvSpPr>
            <a:spLocks/>
          </p:cNvSpPr>
          <p:nvPr/>
        </p:nvSpPr>
        <p:spPr bwMode="gray">
          <a:xfrm>
            <a:off x="1066800" y="0"/>
            <a:ext cx="7543800" cy="6858000"/>
          </a:xfrm>
          <a:custGeom>
            <a:avLst/>
            <a:gdLst>
              <a:gd name="T0" fmla="*/ 0 w 4752"/>
              <a:gd name="T1" fmla="*/ 0 h 4320"/>
              <a:gd name="T2" fmla="*/ 1536 w 4752"/>
              <a:gd name="T3" fmla="*/ 0 h 4320"/>
              <a:gd name="T4" fmla="*/ 4590 w 4752"/>
              <a:gd name="T5" fmla="*/ 450 h 4320"/>
              <a:gd name="T6" fmla="*/ 4752 w 4752"/>
              <a:gd name="T7" fmla="*/ 972 h 4320"/>
              <a:gd name="T8" fmla="*/ 3600 w 4752"/>
              <a:gd name="T9" fmla="*/ 4320 h 4320"/>
              <a:gd name="T10" fmla="*/ 3312 w 4752"/>
              <a:gd name="T11" fmla="*/ 4320 h 4320"/>
              <a:gd name="T12" fmla="*/ 4712 w 4752"/>
              <a:gd name="T13" fmla="*/ 994 h 4320"/>
              <a:gd name="T14" fmla="*/ 4518 w 4752"/>
              <a:gd name="T15" fmla="*/ 524 h 4320"/>
              <a:gd name="T16" fmla="*/ 0 w 4752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52" h="4320">
                <a:moveTo>
                  <a:pt x="0" y="0"/>
                </a:moveTo>
                <a:lnTo>
                  <a:pt x="1536" y="0"/>
                </a:lnTo>
                <a:lnTo>
                  <a:pt x="4590" y="450"/>
                </a:lnTo>
                <a:lnTo>
                  <a:pt x="4752" y="972"/>
                </a:lnTo>
                <a:lnTo>
                  <a:pt x="3600" y="4320"/>
                </a:lnTo>
                <a:lnTo>
                  <a:pt x="3312" y="4320"/>
                </a:lnTo>
                <a:lnTo>
                  <a:pt x="4712" y="994"/>
                </a:lnTo>
                <a:lnTo>
                  <a:pt x="4518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Freeform 11"/>
          <p:cNvSpPr>
            <a:spLocks/>
          </p:cNvSpPr>
          <p:nvPr/>
        </p:nvSpPr>
        <p:spPr bwMode="gray">
          <a:xfrm>
            <a:off x="5486400" y="1657350"/>
            <a:ext cx="2990850" cy="5200650"/>
          </a:xfrm>
          <a:custGeom>
            <a:avLst/>
            <a:gdLst>
              <a:gd name="T0" fmla="*/ 384 w 1884"/>
              <a:gd name="T1" fmla="*/ 3276 h 3276"/>
              <a:gd name="T2" fmla="*/ 1884 w 1884"/>
              <a:gd name="T3" fmla="*/ 0 h 3276"/>
              <a:gd name="T4" fmla="*/ 0 w 1884"/>
              <a:gd name="T5" fmla="*/ 3276 h 3276"/>
              <a:gd name="T6" fmla="*/ 384 w 1884"/>
              <a:gd name="T7" fmla="*/ 3276 h 3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4" h="3276">
                <a:moveTo>
                  <a:pt x="384" y="3276"/>
                </a:moveTo>
                <a:lnTo>
                  <a:pt x="1884" y="0"/>
                </a:lnTo>
                <a:lnTo>
                  <a:pt x="0" y="3276"/>
                </a:lnTo>
                <a:lnTo>
                  <a:pt x="384" y="3276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Freeform 12"/>
          <p:cNvSpPr>
            <a:spLocks/>
          </p:cNvSpPr>
          <p:nvPr/>
        </p:nvSpPr>
        <p:spPr bwMode="gray">
          <a:xfrm>
            <a:off x="3429000" y="0"/>
            <a:ext cx="5172075" cy="6858000"/>
          </a:xfrm>
          <a:custGeom>
            <a:avLst/>
            <a:gdLst>
              <a:gd name="T0" fmla="*/ 0 w 3258"/>
              <a:gd name="T1" fmla="*/ 0 h 4320"/>
              <a:gd name="T2" fmla="*/ 3082 w 3258"/>
              <a:gd name="T3" fmla="*/ 475 h 4320"/>
              <a:gd name="T4" fmla="*/ 3210 w 3258"/>
              <a:gd name="T5" fmla="*/ 936 h 4320"/>
              <a:gd name="T6" fmla="*/ 1728 w 3258"/>
              <a:gd name="T7" fmla="*/ 4320 h 4320"/>
              <a:gd name="T8" fmla="*/ 1872 w 3258"/>
              <a:gd name="T9" fmla="*/ 4320 h 4320"/>
              <a:gd name="T10" fmla="*/ 3258 w 3258"/>
              <a:gd name="T11" fmla="*/ 912 h 4320"/>
              <a:gd name="T12" fmla="*/ 3120 w 3258"/>
              <a:gd name="T13" fmla="*/ 432 h 4320"/>
              <a:gd name="T14" fmla="*/ 1296 w 3258"/>
              <a:gd name="T15" fmla="*/ 0 h 4320"/>
              <a:gd name="T16" fmla="*/ 0 w 3258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58" h="4320">
                <a:moveTo>
                  <a:pt x="0" y="0"/>
                </a:moveTo>
                <a:lnTo>
                  <a:pt x="3082" y="475"/>
                </a:lnTo>
                <a:lnTo>
                  <a:pt x="3210" y="936"/>
                </a:lnTo>
                <a:lnTo>
                  <a:pt x="1728" y="4320"/>
                </a:lnTo>
                <a:lnTo>
                  <a:pt x="1872" y="4320"/>
                </a:lnTo>
                <a:lnTo>
                  <a:pt x="3258" y="912"/>
                </a:lnTo>
                <a:lnTo>
                  <a:pt x="3120" y="432"/>
                </a:lnTo>
                <a:lnTo>
                  <a:pt x="1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" name="Freeform 14"/>
          <p:cNvSpPr>
            <a:spLocks/>
          </p:cNvSpPr>
          <p:nvPr/>
        </p:nvSpPr>
        <p:spPr bwMode="gray">
          <a:xfrm>
            <a:off x="8382000" y="0"/>
            <a:ext cx="762000" cy="1143000"/>
          </a:xfrm>
          <a:custGeom>
            <a:avLst/>
            <a:gdLst>
              <a:gd name="T0" fmla="*/ 48 w 480"/>
              <a:gd name="T1" fmla="*/ 0 h 720"/>
              <a:gd name="T2" fmla="*/ 0 w 480"/>
              <a:gd name="T3" fmla="*/ 96 h 720"/>
              <a:gd name="T4" fmla="*/ 354 w 480"/>
              <a:gd name="T5" fmla="*/ 690 h 720"/>
              <a:gd name="T6" fmla="*/ 480 w 480"/>
              <a:gd name="T7" fmla="*/ 720 h 720"/>
              <a:gd name="T8" fmla="*/ 480 w 480"/>
              <a:gd name="T9" fmla="*/ 576 h 720"/>
              <a:gd name="T10" fmla="*/ 48 w 480"/>
              <a:gd name="T11" fmla="*/ 96 h 720"/>
              <a:gd name="T12" fmla="*/ 89 w 480"/>
              <a:gd name="T13" fmla="*/ 0 h 720"/>
              <a:gd name="T14" fmla="*/ 48 w 480"/>
              <a:gd name="T15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0" h="720">
                <a:moveTo>
                  <a:pt x="48" y="0"/>
                </a:moveTo>
                <a:lnTo>
                  <a:pt x="0" y="96"/>
                </a:lnTo>
                <a:lnTo>
                  <a:pt x="354" y="690"/>
                </a:lnTo>
                <a:lnTo>
                  <a:pt x="480" y="720"/>
                </a:lnTo>
                <a:lnTo>
                  <a:pt x="480" y="576"/>
                </a:lnTo>
                <a:lnTo>
                  <a:pt x="48" y="96"/>
                </a:lnTo>
                <a:lnTo>
                  <a:pt x="89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Freeform 15"/>
          <p:cNvSpPr>
            <a:spLocks/>
          </p:cNvSpPr>
          <p:nvPr/>
        </p:nvSpPr>
        <p:spPr bwMode="gray">
          <a:xfrm>
            <a:off x="8610600" y="228600"/>
            <a:ext cx="533400" cy="533400"/>
          </a:xfrm>
          <a:custGeom>
            <a:avLst/>
            <a:gdLst>
              <a:gd name="T0" fmla="*/ 336 w 336"/>
              <a:gd name="T1" fmla="*/ 336 h 336"/>
              <a:gd name="T2" fmla="*/ 0 w 336"/>
              <a:gd name="T3" fmla="*/ 0 h 336"/>
              <a:gd name="T4" fmla="*/ 336 w 336"/>
              <a:gd name="T5" fmla="*/ 240 h 336"/>
              <a:gd name="T6" fmla="*/ 336 w 336"/>
              <a:gd name="T7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" h="336">
                <a:moveTo>
                  <a:pt x="336" y="336"/>
                </a:moveTo>
                <a:lnTo>
                  <a:pt x="0" y="0"/>
                </a:lnTo>
                <a:lnTo>
                  <a:pt x="336" y="240"/>
                </a:lnTo>
                <a:lnTo>
                  <a:pt x="336" y="33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73" name="Group 49"/>
          <p:cNvGrpSpPr>
            <a:grpSpLocks/>
          </p:cNvGrpSpPr>
          <p:nvPr/>
        </p:nvGrpSpPr>
        <p:grpSpPr bwMode="auto">
          <a:xfrm>
            <a:off x="5562600" y="0"/>
            <a:ext cx="3267075" cy="6858000"/>
            <a:chOff x="3504" y="0"/>
            <a:chExt cx="2058" cy="4320"/>
          </a:xfrm>
        </p:grpSpPr>
        <p:sp>
          <p:nvSpPr>
            <p:cNvPr id="1037" name="Freeform 13"/>
            <p:cNvSpPr>
              <a:spLocks/>
            </p:cNvSpPr>
            <p:nvPr userDrawn="1"/>
          </p:nvSpPr>
          <p:spPr bwMode="gray">
            <a:xfrm>
              <a:off x="3504" y="0"/>
              <a:ext cx="2058" cy="4320"/>
            </a:xfrm>
            <a:custGeom>
              <a:avLst/>
              <a:gdLst>
                <a:gd name="T0" fmla="*/ 0 w 2058"/>
                <a:gd name="T1" fmla="*/ 0 h 4320"/>
                <a:gd name="T2" fmla="*/ 1056 w 2058"/>
                <a:gd name="T3" fmla="*/ 0 h 4320"/>
                <a:gd name="T4" fmla="*/ 1854 w 2058"/>
                <a:gd name="T5" fmla="*/ 402 h 4320"/>
                <a:gd name="T6" fmla="*/ 2058 w 2058"/>
                <a:gd name="T7" fmla="*/ 972 h 4320"/>
                <a:gd name="T8" fmla="*/ 1296 w 2058"/>
                <a:gd name="T9" fmla="*/ 4320 h 4320"/>
                <a:gd name="T10" fmla="*/ 720 w 2058"/>
                <a:gd name="T11" fmla="*/ 4320 h 4320"/>
                <a:gd name="T12" fmla="*/ 1920 w 2058"/>
                <a:gd name="T13" fmla="*/ 912 h 4320"/>
                <a:gd name="T14" fmla="*/ 1776 w 2058"/>
                <a:gd name="T15" fmla="*/ 432 h 4320"/>
                <a:gd name="T16" fmla="*/ 0 w 2058"/>
                <a:gd name="T17" fmla="*/ 0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8" h="4320">
                  <a:moveTo>
                    <a:pt x="0" y="0"/>
                  </a:moveTo>
                  <a:lnTo>
                    <a:pt x="1056" y="0"/>
                  </a:lnTo>
                  <a:lnTo>
                    <a:pt x="1854" y="402"/>
                  </a:lnTo>
                  <a:lnTo>
                    <a:pt x="2058" y="972"/>
                  </a:lnTo>
                  <a:lnTo>
                    <a:pt x="1296" y="4320"/>
                  </a:lnTo>
                  <a:lnTo>
                    <a:pt x="720" y="4320"/>
                  </a:lnTo>
                  <a:lnTo>
                    <a:pt x="1920" y="912"/>
                  </a:lnTo>
                  <a:lnTo>
                    <a:pt x="1776" y="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23"/>
            <p:cNvSpPr>
              <a:spLocks/>
            </p:cNvSpPr>
            <p:nvPr userDrawn="1"/>
          </p:nvSpPr>
          <p:spPr bwMode="gray">
            <a:xfrm>
              <a:off x="4217" y="1056"/>
              <a:ext cx="1152" cy="3264"/>
            </a:xfrm>
            <a:custGeom>
              <a:avLst/>
              <a:gdLst>
                <a:gd name="T0" fmla="*/ 0 w 1152"/>
                <a:gd name="T1" fmla="*/ 3264 h 3264"/>
                <a:gd name="T2" fmla="*/ 1152 w 1152"/>
                <a:gd name="T3" fmla="*/ 0 h 3264"/>
                <a:gd name="T4" fmla="*/ 96 w 1152"/>
                <a:gd name="T5" fmla="*/ 3264 h 3264"/>
                <a:gd name="T6" fmla="*/ 0 w 1152"/>
                <a:gd name="T7" fmla="*/ 3264 h 3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3264">
                  <a:moveTo>
                    <a:pt x="0" y="3264"/>
                  </a:moveTo>
                  <a:lnTo>
                    <a:pt x="1152" y="0"/>
                  </a:lnTo>
                  <a:lnTo>
                    <a:pt x="96" y="3264"/>
                  </a:lnTo>
                  <a:lnTo>
                    <a:pt x="0" y="326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6" name="Group 22"/>
          <p:cNvGrpSpPr>
            <a:grpSpLocks/>
          </p:cNvGrpSpPr>
          <p:nvPr/>
        </p:nvGrpSpPr>
        <p:grpSpPr bwMode="auto">
          <a:xfrm>
            <a:off x="142875" y="765175"/>
            <a:ext cx="8858250" cy="5943600"/>
            <a:chOff x="90" y="480"/>
            <a:chExt cx="5580" cy="3744"/>
          </a:xfrm>
        </p:grpSpPr>
        <p:sp>
          <p:nvSpPr>
            <p:cNvPr id="1040" name="Rectangle 16"/>
            <p:cNvSpPr>
              <a:spLocks noChangeArrowheads="1"/>
            </p:cNvSpPr>
            <p:nvPr userDrawn="1"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Rectangle 17"/>
            <p:cNvSpPr>
              <a:spLocks noChangeArrowheads="1"/>
            </p:cNvSpPr>
            <p:nvPr userDrawn="1"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2" name="Rectangle 18"/>
          <p:cNvSpPr>
            <a:spLocks noChangeArrowheads="1"/>
          </p:cNvSpPr>
          <p:nvPr/>
        </p:nvSpPr>
        <p:spPr bwMode="gray">
          <a:xfrm>
            <a:off x="381000" y="676275"/>
            <a:ext cx="62484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43" name="Picture 19" descr="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00063" y="577850"/>
            <a:ext cx="37147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903288" y="198438"/>
            <a:ext cx="63023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283325"/>
            <a:ext cx="213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283325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en-US" smtClean="0"/>
              <a:t>Cấu trúc dữ liệu và giửi thuật</a:t>
            </a: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283325"/>
            <a:ext cx="213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5402E41-5878-43D9-86EF-A0C8384744D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5029200"/>
            <a:ext cx="2814638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38600" y="3505200"/>
            <a:ext cx="2814638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gray">
          <a:xfrm>
            <a:off x="3284901" y="3505200"/>
            <a:ext cx="54864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200" b="1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CẤU TRÚC DỮ LIỆU VÀ GIẢI THUẬT</a:t>
            </a:r>
            <a:endParaRPr lang="en-US" altLang="en-US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17F7427-C84F-4D27-922E-55D885048A2A}" type="slidenum">
              <a:rPr lang="en-US" altLang="en-US" smtClean="0"/>
              <a:pPr/>
              <a:t>1</a:t>
            </a:fld>
            <a:endParaRPr lang="en-US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919" y="4648200"/>
            <a:ext cx="926306" cy="1285251"/>
          </a:xfrm>
          <a:prstGeom prst="rect">
            <a:avLst/>
          </a:prstGeom>
        </p:spPr>
      </p:pic>
    </p:spTree>
  </p:cSld>
  <p:clrMapOvr>
    <a:masterClrMapping/>
  </p:clrMapOvr>
  <p:transition spd="slow">
    <p:strips dir="l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142999"/>
            <a:ext cx="8305800" cy="5257801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 học phần: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124002</a:t>
            </a:r>
          </a:p>
          <a:p>
            <a:pPr marL="0" indent="0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 tín chỉ: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0" indent="0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 thuyết: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  <a:p>
            <a:pPr marL="0" indent="0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 hành: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  <a:p>
            <a:pPr marL="0" indent="0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Điểm:	-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Quá trình: 40%</a:t>
            </a:r>
          </a:p>
          <a:p>
            <a:pPr marL="0" indent="0"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- 60% thi kết thúc học phần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Tài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 tham khảo: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Lê Minh Hoàng – Giải thuật và lập trình. ĐHSP Hà Nội 1999-2002</a:t>
            </a:r>
            <a:endParaRPr lang="en-US" altLang="en-US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giảng viên: 	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huynguyen@hcmutrans.edu,vn</a:t>
            </a:r>
            <a:endParaRPr lang="en-US" altLang="en-US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0942976091</a:t>
            </a:r>
          </a:p>
          <a:p>
            <a:pPr marL="0" indent="0">
              <a:buNone/>
            </a:pPr>
            <a:r>
              <a:rPr lang="en-US" alt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>
          <a:xfrm>
            <a:off x="903288" y="152400"/>
            <a:ext cx="6302375" cy="1143000"/>
          </a:xfrm>
        </p:spPr>
        <p:txBody>
          <a:bodyPr/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chung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2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5029200"/>
            <a:ext cx="609600" cy="659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67" name="Rectangle 35"/>
          <p:cNvSpPr>
            <a:spLocks noGrp="1" noChangeArrowheads="1"/>
          </p:cNvSpPr>
          <p:nvPr>
            <p:ph type="title"/>
          </p:nvPr>
        </p:nvSpPr>
        <p:spPr>
          <a:xfrm>
            <a:off x="936625" y="152400"/>
            <a:ext cx="6302375" cy="1143000"/>
          </a:xfrm>
        </p:spPr>
        <p:txBody>
          <a:bodyPr/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học phần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45" name="Rectangle 5"/>
          <p:cNvSpPr>
            <a:spLocks noChangeArrowheads="1"/>
          </p:cNvSpPr>
          <p:nvPr/>
        </p:nvSpPr>
        <p:spPr bwMode="auto">
          <a:xfrm>
            <a:off x="1524000" y="1143000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800" smtClean="0">
                <a:solidFill>
                  <a:srgbClr val="000000"/>
                </a:solidFill>
                <a:latin typeface="Times New Roman" panose="02020603050405020304" pitchFamily="18" charset="0"/>
              </a:rPr>
              <a:t>Tổng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quan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1447800" y="1905000"/>
            <a:ext cx="495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800" smtClean="0">
                <a:solidFill>
                  <a:srgbClr val="000000"/>
                </a:solidFill>
                <a:latin typeface="Times New Roman" panose="02020603050405020304" pitchFamily="18" charset="0"/>
              </a:rPr>
              <a:t>Tìm kiếm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Rectangle 7"/>
          <p:cNvSpPr>
            <a:spLocks noChangeArrowheads="1"/>
          </p:cNvSpPr>
          <p:nvPr/>
        </p:nvSpPr>
        <p:spPr bwMode="auto">
          <a:xfrm>
            <a:off x="1524000" y="3505200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800" smtClean="0">
                <a:solidFill>
                  <a:srgbClr val="000000"/>
                </a:solidFill>
                <a:latin typeface="Times New Roman" panose="02020603050405020304" pitchFamily="18" charset="0"/>
              </a:rPr>
              <a:t>Danh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sách liên kết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Rectangle 8"/>
          <p:cNvSpPr>
            <a:spLocks noChangeArrowheads="1"/>
          </p:cNvSpPr>
          <p:nvPr/>
        </p:nvSpPr>
        <p:spPr bwMode="auto">
          <a:xfrm>
            <a:off x="1524000" y="4357687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800" smtClean="0">
                <a:solidFill>
                  <a:srgbClr val="000000"/>
                </a:solidFill>
                <a:latin typeface="Times New Roman" panose="02020603050405020304" pitchFamily="18" charset="0"/>
              </a:rPr>
              <a:t>Cây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" name="Group 9"/>
          <p:cNvGrpSpPr>
            <a:grpSpLocks/>
          </p:cNvGrpSpPr>
          <p:nvPr/>
        </p:nvGrpSpPr>
        <p:grpSpPr bwMode="auto">
          <a:xfrm>
            <a:off x="1066800" y="1465262"/>
            <a:ext cx="5867400" cy="533400"/>
            <a:chOff x="1104" y="1488"/>
            <a:chExt cx="3696" cy="336"/>
          </a:xfrm>
        </p:grpSpPr>
        <p:grpSp>
          <p:nvGrpSpPr>
            <p:cNvPr id="50" name="Group 10"/>
            <p:cNvGrpSpPr>
              <a:grpSpLocks/>
            </p:cNvGrpSpPr>
            <p:nvPr/>
          </p:nvGrpSpPr>
          <p:grpSpPr bwMode="auto">
            <a:xfrm>
              <a:off x="1247" y="1622"/>
              <a:ext cx="3553" cy="68"/>
              <a:chOff x="528" y="1824"/>
              <a:chExt cx="4512" cy="71"/>
            </a:xfrm>
          </p:grpSpPr>
          <p:sp>
            <p:nvSpPr>
              <p:cNvPr id="66" name="Rectangle 11"/>
              <p:cNvSpPr>
                <a:spLocks noChangeArrowheads="1"/>
              </p:cNvSpPr>
              <p:nvPr/>
            </p:nvSpPr>
            <p:spPr bwMode="gray">
              <a:xfrm>
                <a:off x="528" y="1844"/>
                <a:ext cx="4512" cy="31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Rectangle 12"/>
              <p:cNvSpPr>
                <a:spLocks noChangeArrowheads="1"/>
              </p:cNvSpPr>
              <p:nvPr/>
            </p:nvSpPr>
            <p:spPr bwMode="gray">
              <a:xfrm>
                <a:off x="528" y="1885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Rectangle 13"/>
              <p:cNvSpPr>
                <a:spLocks noChangeArrowheads="1"/>
              </p:cNvSpPr>
              <p:nvPr/>
            </p:nvSpPr>
            <p:spPr bwMode="gray">
              <a:xfrm>
                <a:off x="528" y="1824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" name="Group 14"/>
            <p:cNvGrpSpPr>
              <a:grpSpLocks/>
            </p:cNvGrpSpPr>
            <p:nvPr/>
          </p:nvGrpSpPr>
          <p:grpSpPr bwMode="auto">
            <a:xfrm>
              <a:off x="1104" y="1488"/>
              <a:ext cx="336" cy="336"/>
              <a:chOff x="288" y="1632"/>
              <a:chExt cx="2112" cy="2448"/>
            </a:xfrm>
          </p:grpSpPr>
          <p:sp>
            <p:nvSpPr>
              <p:cNvPr id="52" name="Rectangle 15"/>
              <p:cNvSpPr>
                <a:spLocks noChangeArrowheads="1"/>
              </p:cNvSpPr>
              <p:nvPr/>
            </p:nvSpPr>
            <p:spPr bwMode="gray">
              <a:xfrm rot="2686397">
                <a:off x="1252" y="2085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Rectangle 16"/>
              <p:cNvSpPr>
                <a:spLocks noChangeArrowheads="1"/>
              </p:cNvSpPr>
              <p:nvPr/>
            </p:nvSpPr>
            <p:spPr bwMode="gray">
              <a:xfrm rot="2686397">
                <a:off x="1515" y="2386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Rectangle 17"/>
              <p:cNvSpPr>
                <a:spLocks noChangeArrowheads="1"/>
              </p:cNvSpPr>
              <p:nvPr/>
            </p:nvSpPr>
            <p:spPr bwMode="gray">
              <a:xfrm rot="2686397">
                <a:off x="986" y="1780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Rectangle 18"/>
              <p:cNvSpPr>
                <a:spLocks noChangeArrowheads="1"/>
              </p:cNvSpPr>
              <p:nvPr/>
            </p:nvSpPr>
            <p:spPr bwMode="gray">
              <a:xfrm rot="2686397">
                <a:off x="288" y="323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Rectangle 19"/>
              <p:cNvSpPr>
                <a:spLocks noChangeArrowheads="1"/>
              </p:cNvSpPr>
              <p:nvPr/>
            </p:nvSpPr>
            <p:spPr bwMode="gray">
              <a:xfrm rot="2686397">
                <a:off x="551" y="2936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Rectangle 20"/>
              <p:cNvSpPr>
                <a:spLocks noChangeArrowheads="1"/>
              </p:cNvSpPr>
              <p:nvPr/>
            </p:nvSpPr>
            <p:spPr bwMode="gray">
              <a:xfrm rot="2686397">
                <a:off x="810" y="262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Rectangle 21"/>
              <p:cNvSpPr>
                <a:spLocks noChangeArrowheads="1"/>
              </p:cNvSpPr>
              <p:nvPr/>
            </p:nvSpPr>
            <p:spPr bwMode="gray">
              <a:xfrm rot="2686397">
                <a:off x="1073" y="2322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Rectangle 22"/>
              <p:cNvSpPr>
                <a:spLocks noChangeArrowheads="1"/>
              </p:cNvSpPr>
              <p:nvPr/>
            </p:nvSpPr>
            <p:spPr bwMode="gray">
              <a:xfrm rot="2686397">
                <a:off x="1646" y="2539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Rectangle 23"/>
              <p:cNvSpPr>
                <a:spLocks noChangeArrowheads="1"/>
              </p:cNvSpPr>
              <p:nvPr/>
            </p:nvSpPr>
            <p:spPr bwMode="gray">
              <a:xfrm rot="2686397">
                <a:off x="1387" y="2234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Rectangle 24"/>
              <p:cNvSpPr>
                <a:spLocks noChangeArrowheads="1"/>
              </p:cNvSpPr>
              <p:nvPr/>
            </p:nvSpPr>
            <p:spPr bwMode="gray">
              <a:xfrm rot="2686397">
                <a:off x="858" y="1632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Rectangle 25"/>
              <p:cNvSpPr>
                <a:spLocks noChangeArrowheads="1"/>
              </p:cNvSpPr>
              <p:nvPr/>
            </p:nvSpPr>
            <p:spPr bwMode="gray">
              <a:xfrm rot="2686397">
                <a:off x="1121" y="1933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Rectangle 26"/>
              <p:cNvSpPr>
                <a:spLocks noChangeArrowheads="1"/>
              </p:cNvSpPr>
              <p:nvPr/>
            </p:nvSpPr>
            <p:spPr bwMode="gray">
              <a:xfrm rot="2686397">
                <a:off x="419" y="3085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Rectangle 27"/>
              <p:cNvSpPr>
                <a:spLocks noChangeArrowheads="1"/>
              </p:cNvSpPr>
              <p:nvPr/>
            </p:nvSpPr>
            <p:spPr bwMode="gray">
              <a:xfrm rot="2686397">
                <a:off x="679" y="2780"/>
                <a:ext cx="1327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Rectangle 28"/>
              <p:cNvSpPr>
                <a:spLocks noChangeArrowheads="1"/>
              </p:cNvSpPr>
              <p:nvPr/>
            </p:nvSpPr>
            <p:spPr bwMode="gray">
              <a:xfrm rot="2686397">
                <a:off x="941" y="2471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9" name="Group 29"/>
          <p:cNvGrpSpPr>
            <a:grpSpLocks/>
          </p:cNvGrpSpPr>
          <p:nvPr/>
        </p:nvGrpSpPr>
        <p:grpSpPr bwMode="auto">
          <a:xfrm>
            <a:off x="1066800" y="2227262"/>
            <a:ext cx="5867400" cy="533400"/>
            <a:chOff x="960" y="1536"/>
            <a:chExt cx="3696" cy="336"/>
          </a:xfrm>
        </p:grpSpPr>
        <p:grpSp>
          <p:nvGrpSpPr>
            <p:cNvPr id="70" name="Group 30"/>
            <p:cNvGrpSpPr>
              <a:grpSpLocks/>
            </p:cNvGrpSpPr>
            <p:nvPr/>
          </p:nvGrpSpPr>
          <p:grpSpPr bwMode="auto">
            <a:xfrm>
              <a:off x="1103" y="1670"/>
              <a:ext cx="3553" cy="68"/>
              <a:chOff x="528" y="1824"/>
              <a:chExt cx="4512" cy="71"/>
            </a:xfrm>
          </p:grpSpPr>
          <p:sp>
            <p:nvSpPr>
              <p:cNvPr id="86" name="Rectangle 31"/>
              <p:cNvSpPr>
                <a:spLocks noChangeArrowheads="1"/>
              </p:cNvSpPr>
              <p:nvPr/>
            </p:nvSpPr>
            <p:spPr bwMode="gray">
              <a:xfrm>
                <a:off x="528" y="1844"/>
                <a:ext cx="4512" cy="31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Rectangle 32"/>
              <p:cNvSpPr>
                <a:spLocks noChangeArrowheads="1"/>
              </p:cNvSpPr>
              <p:nvPr/>
            </p:nvSpPr>
            <p:spPr bwMode="gray">
              <a:xfrm>
                <a:off x="528" y="1885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Rectangle 33"/>
              <p:cNvSpPr>
                <a:spLocks noChangeArrowheads="1"/>
              </p:cNvSpPr>
              <p:nvPr/>
            </p:nvSpPr>
            <p:spPr bwMode="gray">
              <a:xfrm>
                <a:off x="528" y="1824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34"/>
            <p:cNvGrpSpPr>
              <a:grpSpLocks/>
            </p:cNvGrpSpPr>
            <p:nvPr/>
          </p:nvGrpSpPr>
          <p:grpSpPr bwMode="auto">
            <a:xfrm>
              <a:off x="960" y="1536"/>
              <a:ext cx="336" cy="336"/>
              <a:chOff x="288" y="1632"/>
              <a:chExt cx="2112" cy="2448"/>
            </a:xfrm>
          </p:grpSpPr>
          <p:sp>
            <p:nvSpPr>
              <p:cNvPr id="72" name="Rectangle 35"/>
              <p:cNvSpPr>
                <a:spLocks noChangeArrowheads="1"/>
              </p:cNvSpPr>
              <p:nvPr/>
            </p:nvSpPr>
            <p:spPr bwMode="gray">
              <a:xfrm rot="2686397">
                <a:off x="1252" y="2085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Rectangle 36"/>
              <p:cNvSpPr>
                <a:spLocks noChangeArrowheads="1"/>
              </p:cNvSpPr>
              <p:nvPr/>
            </p:nvSpPr>
            <p:spPr bwMode="gray">
              <a:xfrm rot="2686397">
                <a:off x="1515" y="2386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Rectangle 37"/>
              <p:cNvSpPr>
                <a:spLocks noChangeArrowheads="1"/>
              </p:cNvSpPr>
              <p:nvPr/>
            </p:nvSpPr>
            <p:spPr bwMode="gray">
              <a:xfrm rot="2686397">
                <a:off x="986" y="1780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Rectangle 38"/>
              <p:cNvSpPr>
                <a:spLocks noChangeArrowheads="1"/>
              </p:cNvSpPr>
              <p:nvPr/>
            </p:nvSpPr>
            <p:spPr bwMode="gray">
              <a:xfrm rot="2686397">
                <a:off x="288" y="323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Rectangle 39"/>
              <p:cNvSpPr>
                <a:spLocks noChangeArrowheads="1"/>
              </p:cNvSpPr>
              <p:nvPr/>
            </p:nvSpPr>
            <p:spPr bwMode="gray">
              <a:xfrm rot="2686397">
                <a:off x="551" y="2936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Rectangle 40"/>
              <p:cNvSpPr>
                <a:spLocks noChangeArrowheads="1"/>
              </p:cNvSpPr>
              <p:nvPr/>
            </p:nvSpPr>
            <p:spPr bwMode="gray">
              <a:xfrm rot="2686397">
                <a:off x="810" y="262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Rectangle 41"/>
              <p:cNvSpPr>
                <a:spLocks noChangeArrowheads="1"/>
              </p:cNvSpPr>
              <p:nvPr/>
            </p:nvSpPr>
            <p:spPr bwMode="gray">
              <a:xfrm rot="2686397">
                <a:off x="1073" y="2322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Rectangle 42"/>
              <p:cNvSpPr>
                <a:spLocks noChangeArrowheads="1"/>
              </p:cNvSpPr>
              <p:nvPr/>
            </p:nvSpPr>
            <p:spPr bwMode="gray">
              <a:xfrm rot="2686397">
                <a:off x="1646" y="2539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Rectangle 43"/>
              <p:cNvSpPr>
                <a:spLocks noChangeArrowheads="1"/>
              </p:cNvSpPr>
              <p:nvPr/>
            </p:nvSpPr>
            <p:spPr bwMode="gray">
              <a:xfrm rot="2686397">
                <a:off x="1387" y="2234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Rectangle 44"/>
              <p:cNvSpPr>
                <a:spLocks noChangeArrowheads="1"/>
              </p:cNvSpPr>
              <p:nvPr/>
            </p:nvSpPr>
            <p:spPr bwMode="gray">
              <a:xfrm rot="2686397">
                <a:off x="858" y="1632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Rectangle 45"/>
              <p:cNvSpPr>
                <a:spLocks noChangeArrowheads="1"/>
              </p:cNvSpPr>
              <p:nvPr/>
            </p:nvSpPr>
            <p:spPr bwMode="gray">
              <a:xfrm rot="2686397">
                <a:off x="1121" y="1933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Rectangle 46"/>
              <p:cNvSpPr>
                <a:spLocks noChangeArrowheads="1"/>
              </p:cNvSpPr>
              <p:nvPr/>
            </p:nvSpPr>
            <p:spPr bwMode="gray">
              <a:xfrm rot="2686397">
                <a:off x="419" y="3085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Rectangle 47"/>
              <p:cNvSpPr>
                <a:spLocks noChangeArrowheads="1"/>
              </p:cNvSpPr>
              <p:nvPr/>
            </p:nvSpPr>
            <p:spPr bwMode="gray">
              <a:xfrm rot="2686397">
                <a:off x="679" y="2780"/>
                <a:ext cx="1327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Rectangle 48"/>
              <p:cNvSpPr>
                <a:spLocks noChangeArrowheads="1"/>
              </p:cNvSpPr>
              <p:nvPr/>
            </p:nvSpPr>
            <p:spPr bwMode="gray">
              <a:xfrm rot="2686397">
                <a:off x="941" y="2471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9" name="Group 49"/>
          <p:cNvGrpSpPr>
            <a:grpSpLocks/>
          </p:cNvGrpSpPr>
          <p:nvPr/>
        </p:nvGrpSpPr>
        <p:grpSpPr bwMode="auto">
          <a:xfrm>
            <a:off x="1066800" y="3813175"/>
            <a:ext cx="5867400" cy="533400"/>
            <a:chOff x="960" y="1536"/>
            <a:chExt cx="3696" cy="336"/>
          </a:xfrm>
        </p:grpSpPr>
        <p:grpSp>
          <p:nvGrpSpPr>
            <p:cNvPr id="90" name="Group 50"/>
            <p:cNvGrpSpPr>
              <a:grpSpLocks/>
            </p:cNvGrpSpPr>
            <p:nvPr/>
          </p:nvGrpSpPr>
          <p:grpSpPr bwMode="auto">
            <a:xfrm>
              <a:off x="1103" y="1670"/>
              <a:ext cx="3553" cy="68"/>
              <a:chOff x="528" y="1824"/>
              <a:chExt cx="4512" cy="71"/>
            </a:xfrm>
          </p:grpSpPr>
          <p:sp>
            <p:nvSpPr>
              <p:cNvPr id="106" name="Rectangle 51"/>
              <p:cNvSpPr>
                <a:spLocks noChangeArrowheads="1"/>
              </p:cNvSpPr>
              <p:nvPr/>
            </p:nvSpPr>
            <p:spPr bwMode="gray">
              <a:xfrm>
                <a:off x="528" y="1844"/>
                <a:ext cx="4512" cy="31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52"/>
              <p:cNvSpPr>
                <a:spLocks noChangeArrowheads="1"/>
              </p:cNvSpPr>
              <p:nvPr/>
            </p:nvSpPr>
            <p:spPr bwMode="gray">
              <a:xfrm>
                <a:off x="528" y="1885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53"/>
              <p:cNvSpPr>
                <a:spLocks noChangeArrowheads="1"/>
              </p:cNvSpPr>
              <p:nvPr/>
            </p:nvSpPr>
            <p:spPr bwMode="gray">
              <a:xfrm>
                <a:off x="528" y="1824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1" name="Group 54"/>
            <p:cNvGrpSpPr>
              <a:grpSpLocks/>
            </p:cNvGrpSpPr>
            <p:nvPr/>
          </p:nvGrpSpPr>
          <p:grpSpPr bwMode="auto">
            <a:xfrm>
              <a:off x="960" y="1536"/>
              <a:ext cx="336" cy="336"/>
              <a:chOff x="288" y="1632"/>
              <a:chExt cx="2112" cy="2448"/>
            </a:xfrm>
          </p:grpSpPr>
          <p:sp>
            <p:nvSpPr>
              <p:cNvPr id="92" name="Rectangle 55"/>
              <p:cNvSpPr>
                <a:spLocks noChangeArrowheads="1"/>
              </p:cNvSpPr>
              <p:nvPr/>
            </p:nvSpPr>
            <p:spPr bwMode="gray">
              <a:xfrm rot="2686397">
                <a:off x="1252" y="2085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Rectangle 56"/>
              <p:cNvSpPr>
                <a:spLocks noChangeArrowheads="1"/>
              </p:cNvSpPr>
              <p:nvPr/>
            </p:nvSpPr>
            <p:spPr bwMode="gray">
              <a:xfrm rot="2686397">
                <a:off x="1515" y="2386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Rectangle 57"/>
              <p:cNvSpPr>
                <a:spLocks noChangeArrowheads="1"/>
              </p:cNvSpPr>
              <p:nvPr/>
            </p:nvSpPr>
            <p:spPr bwMode="gray">
              <a:xfrm rot="2686397">
                <a:off x="986" y="1780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Rectangle 58"/>
              <p:cNvSpPr>
                <a:spLocks noChangeArrowheads="1"/>
              </p:cNvSpPr>
              <p:nvPr/>
            </p:nvSpPr>
            <p:spPr bwMode="gray">
              <a:xfrm rot="2686397">
                <a:off x="288" y="323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Rectangle 59"/>
              <p:cNvSpPr>
                <a:spLocks noChangeArrowheads="1"/>
              </p:cNvSpPr>
              <p:nvPr/>
            </p:nvSpPr>
            <p:spPr bwMode="gray">
              <a:xfrm rot="2686397">
                <a:off x="551" y="2936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Rectangle 60"/>
              <p:cNvSpPr>
                <a:spLocks noChangeArrowheads="1"/>
              </p:cNvSpPr>
              <p:nvPr/>
            </p:nvSpPr>
            <p:spPr bwMode="gray">
              <a:xfrm rot="2686397">
                <a:off x="810" y="262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Rectangle 61"/>
              <p:cNvSpPr>
                <a:spLocks noChangeArrowheads="1"/>
              </p:cNvSpPr>
              <p:nvPr/>
            </p:nvSpPr>
            <p:spPr bwMode="gray">
              <a:xfrm rot="2686397">
                <a:off x="1073" y="2322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Rectangle 62"/>
              <p:cNvSpPr>
                <a:spLocks noChangeArrowheads="1"/>
              </p:cNvSpPr>
              <p:nvPr/>
            </p:nvSpPr>
            <p:spPr bwMode="gray">
              <a:xfrm rot="2686397">
                <a:off x="1646" y="2539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Rectangle 63"/>
              <p:cNvSpPr>
                <a:spLocks noChangeArrowheads="1"/>
              </p:cNvSpPr>
              <p:nvPr/>
            </p:nvSpPr>
            <p:spPr bwMode="gray">
              <a:xfrm rot="2686397">
                <a:off x="1387" y="2234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Rectangle 64"/>
              <p:cNvSpPr>
                <a:spLocks noChangeArrowheads="1"/>
              </p:cNvSpPr>
              <p:nvPr/>
            </p:nvSpPr>
            <p:spPr bwMode="gray">
              <a:xfrm rot="2686397">
                <a:off x="858" y="1632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Rectangle 65"/>
              <p:cNvSpPr>
                <a:spLocks noChangeArrowheads="1"/>
              </p:cNvSpPr>
              <p:nvPr/>
            </p:nvSpPr>
            <p:spPr bwMode="gray">
              <a:xfrm rot="2686397">
                <a:off x="1121" y="1933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Rectangle 66"/>
              <p:cNvSpPr>
                <a:spLocks noChangeArrowheads="1"/>
              </p:cNvSpPr>
              <p:nvPr/>
            </p:nvSpPr>
            <p:spPr bwMode="gray">
              <a:xfrm rot="2686397">
                <a:off x="419" y="3085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Rectangle 67"/>
              <p:cNvSpPr>
                <a:spLocks noChangeArrowheads="1"/>
              </p:cNvSpPr>
              <p:nvPr/>
            </p:nvSpPr>
            <p:spPr bwMode="gray">
              <a:xfrm rot="2686397">
                <a:off x="679" y="2780"/>
                <a:ext cx="1327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Rectangle 68"/>
              <p:cNvSpPr>
                <a:spLocks noChangeArrowheads="1"/>
              </p:cNvSpPr>
              <p:nvPr/>
            </p:nvSpPr>
            <p:spPr bwMode="gray">
              <a:xfrm rot="2686397">
                <a:off x="941" y="2471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9" name="Group 69"/>
          <p:cNvGrpSpPr>
            <a:grpSpLocks/>
          </p:cNvGrpSpPr>
          <p:nvPr/>
        </p:nvGrpSpPr>
        <p:grpSpPr bwMode="auto">
          <a:xfrm>
            <a:off x="1066800" y="3051175"/>
            <a:ext cx="5867400" cy="533400"/>
            <a:chOff x="1104" y="1488"/>
            <a:chExt cx="3696" cy="336"/>
          </a:xfrm>
        </p:grpSpPr>
        <p:grpSp>
          <p:nvGrpSpPr>
            <p:cNvPr id="110" name="Group 70"/>
            <p:cNvGrpSpPr>
              <a:grpSpLocks/>
            </p:cNvGrpSpPr>
            <p:nvPr/>
          </p:nvGrpSpPr>
          <p:grpSpPr bwMode="auto">
            <a:xfrm>
              <a:off x="1247" y="1622"/>
              <a:ext cx="3553" cy="68"/>
              <a:chOff x="528" y="1824"/>
              <a:chExt cx="4512" cy="71"/>
            </a:xfrm>
          </p:grpSpPr>
          <p:sp>
            <p:nvSpPr>
              <p:cNvPr id="126" name="Rectangle 71"/>
              <p:cNvSpPr>
                <a:spLocks noChangeArrowheads="1"/>
              </p:cNvSpPr>
              <p:nvPr/>
            </p:nvSpPr>
            <p:spPr bwMode="gray">
              <a:xfrm>
                <a:off x="528" y="1844"/>
                <a:ext cx="4512" cy="31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72"/>
              <p:cNvSpPr>
                <a:spLocks noChangeArrowheads="1"/>
              </p:cNvSpPr>
              <p:nvPr/>
            </p:nvSpPr>
            <p:spPr bwMode="gray">
              <a:xfrm>
                <a:off x="528" y="1885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" name="Rectangle 73"/>
              <p:cNvSpPr>
                <a:spLocks noChangeArrowheads="1"/>
              </p:cNvSpPr>
              <p:nvPr/>
            </p:nvSpPr>
            <p:spPr bwMode="gray">
              <a:xfrm>
                <a:off x="528" y="1824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1" name="Group 74"/>
            <p:cNvGrpSpPr>
              <a:grpSpLocks/>
            </p:cNvGrpSpPr>
            <p:nvPr/>
          </p:nvGrpSpPr>
          <p:grpSpPr bwMode="auto">
            <a:xfrm>
              <a:off x="1104" y="1488"/>
              <a:ext cx="336" cy="336"/>
              <a:chOff x="288" y="1632"/>
              <a:chExt cx="2112" cy="2448"/>
            </a:xfrm>
          </p:grpSpPr>
          <p:sp>
            <p:nvSpPr>
              <p:cNvPr id="112" name="Rectangle 75"/>
              <p:cNvSpPr>
                <a:spLocks noChangeArrowheads="1"/>
              </p:cNvSpPr>
              <p:nvPr/>
            </p:nvSpPr>
            <p:spPr bwMode="gray">
              <a:xfrm rot="2686397">
                <a:off x="1252" y="2085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Rectangle 76"/>
              <p:cNvSpPr>
                <a:spLocks noChangeArrowheads="1"/>
              </p:cNvSpPr>
              <p:nvPr/>
            </p:nvSpPr>
            <p:spPr bwMode="gray">
              <a:xfrm rot="2686397">
                <a:off x="1515" y="2386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Rectangle 77"/>
              <p:cNvSpPr>
                <a:spLocks noChangeArrowheads="1"/>
              </p:cNvSpPr>
              <p:nvPr/>
            </p:nvSpPr>
            <p:spPr bwMode="gray">
              <a:xfrm rot="2686397">
                <a:off x="986" y="1780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Rectangle 78"/>
              <p:cNvSpPr>
                <a:spLocks noChangeArrowheads="1"/>
              </p:cNvSpPr>
              <p:nvPr/>
            </p:nvSpPr>
            <p:spPr bwMode="gray">
              <a:xfrm rot="2686397">
                <a:off x="288" y="323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Rectangle 79"/>
              <p:cNvSpPr>
                <a:spLocks noChangeArrowheads="1"/>
              </p:cNvSpPr>
              <p:nvPr/>
            </p:nvSpPr>
            <p:spPr bwMode="gray">
              <a:xfrm rot="2686397">
                <a:off x="551" y="2936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Rectangle 80"/>
              <p:cNvSpPr>
                <a:spLocks noChangeArrowheads="1"/>
              </p:cNvSpPr>
              <p:nvPr/>
            </p:nvSpPr>
            <p:spPr bwMode="gray">
              <a:xfrm rot="2686397">
                <a:off x="810" y="262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Rectangle 81"/>
              <p:cNvSpPr>
                <a:spLocks noChangeArrowheads="1"/>
              </p:cNvSpPr>
              <p:nvPr/>
            </p:nvSpPr>
            <p:spPr bwMode="gray">
              <a:xfrm rot="2686397">
                <a:off x="1073" y="2322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Rectangle 82"/>
              <p:cNvSpPr>
                <a:spLocks noChangeArrowheads="1"/>
              </p:cNvSpPr>
              <p:nvPr/>
            </p:nvSpPr>
            <p:spPr bwMode="gray">
              <a:xfrm rot="2686397">
                <a:off x="1646" y="2539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Rectangle 83"/>
              <p:cNvSpPr>
                <a:spLocks noChangeArrowheads="1"/>
              </p:cNvSpPr>
              <p:nvPr/>
            </p:nvSpPr>
            <p:spPr bwMode="gray">
              <a:xfrm rot="2686397">
                <a:off x="1387" y="2234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Rectangle 84"/>
              <p:cNvSpPr>
                <a:spLocks noChangeArrowheads="1"/>
              </p:cNvSpPr>
              <p:nvPr/>
            </p:nvSpPr>
            <p:spPr bwMode="gray">
              <a:xfrm rot="2686397">
                <a:off x="858" y="1632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Rectangle 85"/>
              <p:cNvSpPr>
                <a:spLocks noChangeArrowheads="1"/>
              </p:cNvSpPr>
              <p:nvPr/>
            </p:nvSpPr>
            <p:spPr bwMode="gray">
              <a:xfrm rot="2686397">
                <a:off x="1121" y="1933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Rectangle 86"/>
              <p:cNvSpPr>
                <a:spLocks noChangeArrowheads="1"/>
              </p:cNvSpPr>
              <p:nvPr/>
            </p:nvSpPr>
            <p:spPr bwMode="gray">
              <a:xfrm rot="2686397">
                <a:off x="419" y="3085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Rectangle 87"/>
              <p:cNvSpPr>
                <a:spLocks noChangeArrowheads="1"/>
              </p:cNvSpPr>
              <p:nvPr/>
            </p:nvSpPr>
            <p:spPr bwMode="gray">
              <a:xfrm rot="2686397">
                <a:off x="679" y="2780"/>
                <a:ext cx="1327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Rectangle 88"/>
              <p:cNvSpPr>
                <a:spLocks noChangeArrowheads="1"/>
              </p:cNvSpPr>
              <p:nvPr/>
            </p:nvSpPr>
            <p:spPr bwMode="gray">
              <a:xfrm rot="2686397">
                <a:off x="941" y="2471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29" name="Rectangle 7"/>
          <p:cNvSpPr>
            <a:spLocks noChangeArrowheads="1"/>
          </p:cNvSpPr>
          <p:nvPr/>
        </p:nvSpPr>
        <p:spPr bwMode="auto">
          <a:xfrm>
            <a:off x="1524000" y="5195887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800" smtClean="0">
                <a:solidFill>
                  <a:srgbClr val="000000"/>
                </a:solidFill>
                <a:latin typeface="Times New Roman" panose="02020603050405020304" pitchFamily="18" charset="0"/>
              </a:rPr>
              <a:t>Bảng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băm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0" name="Group 69"/>
          <p:cNvGrpSpPr>
            <a:grpSpLocks/>
          </p:cNvGrpSpPr>
          <p:nvPr/>
        </p:nvGrpSpPr>
        <p:grpSpPr bwMode="auto">
          <a:xfrm>
            <a:off x="1066800" y="4633913"/>
            <a:ext cx="5867400" cy="533400"/>
            <a:chOff x="1104" y="1488"/>
            <a:chExt cx="3696" cy="336"/>
          </a:xfrm>
        </p:grpSpPr>
        <p:grpSp>
          <p:nvGrpSpPr>
            <p:cNvPr id="131" name="Group 70"/>
            <p:cNvGrpSpPr>
              <a:grpSpLocks/>
            </p:cNvGrpSpPr>
            <p:nvPr/>
          </p:nvGrpSpPr>
          <p:grpSpPr bwMode="auto">
            <a:xfrm>
              <a:off x="1247" y="1622"/>
              <a:ext cx="3553" cy="68"/>
              <a:chOff x="528" y="1824"/>
              <a:chExt cx="4512" cy="71"/>
            </a:xfrm>
          </p:grpSpPr>
          <p:sp>
            <p:nvSpPr>
              <p:cNvPr id="147" name="Rectangle 71"/>
              <p:cNvSpPr>
                <a:spLocks noChangeArrowheads="1"/>
              </p:cNvSpPr>
              <p:nvPr/>
            </p:nvSpPr>
            <p:spPr bwMode="gray">
              <a:xfrm>
                <a:off x="528" y="1844"/>
                <a:ext cx="4512" cy="31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8" name="Rectangle 72"/>
              <p:cNvSpPr>
                <a:spLocks noChangeArrowheads="1"/>
              </p:cNvSpPr>
              <p:nvPr/>
            </p:nvSpPr>
            <p:spPr bwMode="gray">
              <a:xfrm>
                <a:off x="528" y="1885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Rectangle 73"/>
              <p:cNvSpPr>
                <a:spLocks noChangeArrowheads="1"/>
              </p:cNvSpPr>
              <p:nvPr/>
            </p:nvSpPr>
            <p:spPr bwMode="gray">
              <a:xfrm>
                <a:off x="528" y="1824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9999"/>
                  </a:gs>
                  <a:gs pos="100000">
                    <a:srgbClr val="0099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2" name="Group 74"/>
            <p:cNvGrpSpPr>
              <a:grpSpLocks/>
            </p:cNvGrpSpPr>
            <p:nvPr/>
          </p:nvGrpSpPr>
          <p:grpSpPr bwMode="auto">
            <a:xfrm>
              <a:off x="1104" y="1488"/>
              <a:ext cx="336" cy="336"/>
              <a:chOff x="288" y="1632"/>
              <a:chExt cx="2112" cy="2448"/>
            </a:xfrm>
          </p:grpSpPr>
          <p:sp>
            <p:nvSpPr>
              <p:cNvPr id="133" name="Rectangle 75"/>
              <p:cNvSpPr>
                <a:spLocks noChangeArrowheads="1"/>
              </p:cNvSpPr>
              <p:nvPr/>
            </p:nvSpPr>
            <p:spPr bwMode="gray">
              <a:xfrm rot="2686397">
                <a:off x="1252" y="2085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Rectangle 76"/>
              <p:cNvSpPr>
                <a:spLocks noChangeArrowheads="1"/>
              </p:cNvSpPr>
              <p:nvPr/>
            </p:nvSpPr>
            <p:spPr bwMode="gray">
              <a:xfrm rot="2686397">
                <a:off x="1515" y="2386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Rectangle 77"/>
              <p:cNvSpPr>
                <a:spLocks noChangeArrowheads="1"/>
              </p:cNvSpPr>
              <p:nvPr/>
            </p:nvSpPr>
            <p:spPr bwMode="gray">
              <a:xfrm rot="2686397">
                <a:off x="986" y="1780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Rectangle 78"/>
              <p:cNvSpPr>
                <a:spLocks noChangeArrowheads="1"/>
              </p:cNvSpPr>
              <p:nvPr/>
            </p:nvSpPr>
            <p:spPr bwMode="gray">
              <a:xfrm rot="2686397">
                <a:off x="288" y="323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Rectangle 79"/>
              <p:cNvSpPr>
                <a:spLocks noChangeArrowheads="1"/>
              </p:cNvSpPr>
              <p:nvPr/>
            </p:nvSpPr>
            <p:spPr bwMode="gray">
              <a:xfrm rot="2686397">
                <a:off x="551" y="2936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Rectangle 80"/>
              <p:cNvSpPr>
                <a:spLocks noChangeArrowheads="1"/>
              </p:cNvSpPr>
              <p:nvPr/>
            </p:nvSpPr>
            <p:spPr bwMode="gray">
              <a:xfrm rot="2686397">
                <a:off x="810" y="262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Rectangle 81"/>
              <p:cNvSpPr>
                <a:spLocks noChangeArrowheads="1"/>
              </p:cNvSpPr>
              <p:nvPr/>
            </p:nvSpPr>
            <p:spPr bwMode="gray">
              <a:xfrm rot="2686397">
                <a:off x="1073" y="2322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Rectangle 82"/>
              <p:cNvSpPr>
                <a:spLocks noChangeArrowheads="1"/>
              </p:cNvSpPr>
              <p:nvPr/>
            </p:nvSpPr>
            <p:spPr bwMode="gray">
              <a:xfrm rot="2686397">
                <a:off x="1646" y="2539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Rectangle 83"/>
              <p:cNvSpPr>
                <a:spLocks noChangeArrowheads="1"/>
              </p:cNvSpPr>
              <p:nvPr/>
            </p:nvSpPr>
            <p:spPr bwMode="gray">
              <a:xfrm rot="2686397">
                <a:off x="1387" y="2234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Rectangle 84"/>
              <p:cNvSpPr>
                <a:spLocks noChangeArrowheads="1"/>
              </p:cNvSpPr>
              <p:nvPr/>
            </p:nvSpPr>
            <p:spPr bwMode="gray">
              <a:xfrm rot="2686397">
                <a:off x="858" y="1632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Rectangle 85"/>
              <p:cNvSpPr>
                <a:spLocks noChangeArrowheads="1"/>
              </p:cNvSpPr>
              <p:nvPr/>
            </p:nvSpPr>
            <p:spPr bwMode="gray">
              <a:xfrm rot="2686397">
                <a:off x="1121" y="1933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Rectangle 86"/>
              <p:cNvSpPr>
                <a:spLocks noChangeArrowheads="1"/>
              </p:cNvSpPr>
              <p:nvPr/>
            </p:nvSpPr>
            <p:spPr bwMode="gray">
              <a:xfrm rot="2686397">
                <a:off x="419" y="3085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Rectangle 87"/>
              <p:cNvSpPr>
                <a:spLocks noChangeArrowheads="1"/>
              </p:cNvSpPr>
              <p:nvPr/>
            </p:nvSpPr>
            <p:spPr bwMode="gray">
              <a:xfrm rot="2686397">
                <a:off x="679" y="2780"/>
                <a:ext cx="1327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Rectangle 88"/>
              <p:cNvSpPr>
                <a:spLocks noChangeArrowheads="1"/>
              </p:cNvSpPr>
              <p:nvPr/>
            </p:nvSpPr>
            <p:spPr bwMode="gray">
              <a:xfrm rot="2686397">
                <a:off x="941" y="2471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rgbClr val="6EC830">
                      <a:gamma/>
                      <a:shade val="46275"/>
                      <a:invGamma/>
                    </a:srgbClr>
                  </a:gs>
                  <a:gs pos="50000">
                    <a:srgbClr val="6EC830"/>
                  </a:gs>
                  <a:gs pos="100000">
                    <a:srgbClr val="6EC83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51" name="Group 49"/>
          <p:cNvGrpSpPr>
            <a:grpSpLocks/>
          </p:cNvGrpSpPr>
          <p:nvPr/>
        </p:nvGrpSpPr>
        <p:grpSpPr bwMode="auto">
          <a:xfrm>
            <a:off x="1038226" y="5486400"/>
            <a:ext cx="5867400" cy="533400"/>
            <a:chOff x="960" y="1536"/>
            <a:chExt cx="3696" cy="336"/>
          </a:xfrm>
        </p:grpSpPr>
        <p:grpSp>
          <p:nvGrpSpPr>
            <p:cNvPr id="152" name="Group 50"/>
            <p:cNvGrpSpPr>
              <a:grpSpLocks/>
            </p:cNvGrpSpPr>
            <p:nvPr/>
          </p:nvGrpSpPr>
          <p:grpSpPr bwMode="auto">
            <a:xfrm>
              <a:off x="1103" y="1670"/>
              <a:ext cx="3553" cy="68"/>
              <a:chOff x="528" y="1824"/>
              <a:chExt cx="4512" cy="71"/>
            </a:xfrm>
          </p:grpSpPr>
          <p:sp>
            <p:nvSpPr>
              <p:cNvPr id="168" name="Rectangle 51"/>
              <p:cNvSpPr>
                <a:spLocks noChangeArrowheads="1"/>
              </p:cNvSpPr>
              <p:nvPr/>
            </p:nvSpPr>
            <p:spPr bwMode="gray">
              <a:xfrm>
                <a:off x="528" y="1844"/>
                <a:ext cx="4512" cy="31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9" name="Rectangle 52"/>
              <p:cNvSpPr>
                <a:spLocks noChangeArrowheads="1"/>
              </p:cNvSpPr>
              <p:nvPr/>
            </p:nvSpPr>
            <p:spPr bwMode="gray">
              <a:xfrm>
                <a:off x="528" y="1885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0" name="Rectangle 53"/>
              <p:cNvSpPr>
                <a:spLocks noChangeArrowheads="1"/>
              </p:cNvSpPr>
              <p:nvPr/>
            </p:nvSpPr>
            <p:spPr bwMode="gray">
              <a:xfrm>
                <a:off x="528" y="1824"/>
                <a:ext cx="4512" cy="10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" name="Group 54"/>
            <p:cNvGrpSpPr>
              <a:grpSpLocks/>
            </p:cNvGrpSpPr>
            <p:nvPr/>
          </p:nvGrpSpPr>
          <p:grpSpPr bwMode="auto">
            <a:xfrm>
              <a:off x="960" y="1536"/>
              <a:ext cx="336" cy="336"/>
              <a:chOff x="288" y="1632"/>
              <a:chExt cx="2112" cy="2448"/>
            </a:xfrm>
          </p:grpSpPr>
          <p:sp>
            <p:nvSpPr>
              <p:cNvPr id="154" name="Rectangle 55"/>
              <p:cNvSpPr>
                <a:spLocks noChangeArrowheads="1"/>
              </p:cNvSpPr>
              <p:nvPr/>
            </p:nvSpPr>
            <p:spPr bwMode="gray">
              <a:xfrm rot="2686397">
                <a:off x="1252" y="2085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Rectangle 56"/>
              <p:cNvSpPr>
                <a:spLocks noChangeArrowheads="1"/>
              </p:cNvSpPr>
              <p:nvPr/>
            </p:nvSpPr>
            <p:spPr bwMode="gray">
              <a:xfrm rot="2686397">
                <a:off x="1515" y="2386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Rectangle 57"/>
              <p:cNvSpPr>
                <a:spLocks noChangeArrowheads="1"/>
              </p:cNvSpPr>
              <p:nvPr/>
            </p:nvSpPr>
            <p:spPr bwMode="gray">
              <a:xfrm rot="2686397">
                <a:off x="986" y="1780"/>
                <a:ext cx="128" cy="1542"/>
              </a:xfrm>
              <a:prstGeom prst="rect">
                <a:avLst/>
              </a:prstGeom>
              <a:gradFill rotWithShape="1">
                <a:gsLst>
                  <a:gs pos="0">
                    <a:srgbClr val="38BAC8">
                      <a:gamma/>
                      <a:shade val="46275"/>
                      <a:invGamma/>
                    </a:srgbClr>
                  </a:gs>
                  <a:gs pos="50000">
                    <a:srgbClr val="38BAC8"/>
                  </a:gs>
                  <a:gs pos="100000">
                    <a:srgbClr val="38BAC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Rectangle 58"/>
              <p:cNvSpPr>
                <a:spLocks noChangeArrowheads="1"/>
              </p:cNvSpPr>
              <p:nvPr/>
            </p:nvSpPr>
            <p:spPr bwMode="gray">
              <a:xfrm rot="2686397">
                <a:off x="288" y="323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Rectangle 59"/>
              <p:cNvSpPr>
                <a:spLocks noChangeArrowheads="1"/>
              </p:cNvSpPr>
              <p:nvPr/>
            </p:nvSpPr>
            <p:spPr bwMode="gray">
              <a:xfrm rot="2686397">
                <a:off x="551" y="2936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60"/>
              <p:cNvSpPr>
                <a:spLocks noChangeArrowheads="1"/>
              </p:cNvSpPr>
              <p:nvPr/>
            </p:nvSpPr>
            <p:spPr bwMode="gray">
              <a:xfrm rot="2686397">
                <a:off x="810" y="2627"/>
                <a:ext cx="1327" cy="149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Rectangle 61"/>
              <p:cNvSpPr>
                <a:spLocks noChangeArrowheads="1"/>
              </p:cNvSpPr>
              <p:nvPr/>
            </p:nvSpPr>
            <p:spPr bwMode="gray">
              <a:xfrm rot="2686397">
                <a:off x="1073" y="2322"/>
                <a:ext cx="1327" cy="145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Rectangle 62"/>
              <p:cNvSpPr>
                <a:spLocks noChangeArrowheads="1"/>
              </p:cNvSpPr>
              <p:nvPr/>
            </p:nvSpPr>
            <p:spPr bwMode="gray">
              <a:xfrm rot="2686397">
                <a:off x="1646" y="2539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Rectangle 63"/>
              <p:cNvSpPr>
                <a:spLocks noChangeArrowheads="1"/>
              </p:cNvSpPr>
              <p:nvPr/>
            </p:nvSpPr>
            <p:spPr bwMode="gray">
              <a:xfrm rot="2686397">
                <a:off x="1387" y="2234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Rectangle 64"/>
              <p:cNvSpPr>
                <a:spLocks noChangeArrowheads="1"/>
              </p:cNvSpPr>
              <p:nvPr/>
            </p:nvSpPr>
            <p:spPr bwMode="gray">
              <a:xfrm rot="2686397">
                <a:off x="858" y="1632"/>
                <a:ext cx="125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Rectangle 65"/>
              <p:cNvSpPr>
                <a:spLocks noChangeArrowheads="1"/>
              </p:cNvSpPr>
              <p:nvPr/>
            </p:nvSpPr>
            <p:spPr bwMode="gray">
              <a:xfrm rot="2686397">
                <a:off x="1121" y="1933"/>
                <a:ext cx="128" cy="1541"/>
              </a:xfrm>
              <a:prstGeom prst="rect">
                <a:avLst/>
              </a:prstGeom>
              <a:gradFill rotWithShape="1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Rectangle 66"/>
              <p:cNvSpPr>
                <a:spLocks noChangeArrowheads="1"/>
              </p:cNvSpPr>
              <p:nvPr/>
            </p:nvSpPr>
            <p:spPr bwMode="gray">
              <a:xfrm rot="2686397">
                <a:off x="419" y="3085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Rectangle 67"/>
              <p:cNvSpPr>
                <a:spLocks noChangeArrowheads="1"/>
              </p:cNvSpPr>
              <p:nvPr/>
            </p:nvSpPr>
            <p:spPr bwMode="gray">
              <a:xfrm rot="2686397">
                <a:off x="679" y="2780"/>
                <a:ext cx="1327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Rectangle 68"/>
              <p:cNvSpPr>
                <a:spLocks noChangeArrowheads="1"/>
              </p:cNvSpPr>
              <p:nvPr/>
            </p:nvSpPr>
            <p:spPr bwMode="gray">
              <a:xfrm rot="2686397">
                <a:off x="941" y="2471"/>
                <a:ext cx="1328" cy="148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71" name="Rectangle 6"/>
          <p:cNvSpPr>
            <a:spLocks noChangeArrowheads="1"/>
          </p:cNvSpPr>
          <p:nvPr/>
        </p:nvSpPr>
        <p:spPr bwMode="auto">
          <a:xfrm>
            <a:off x="1447800" y="2677180"/>
            <a:ext cx="495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800" smtClean="0">
                <a:solidFill>
                  <a:srgbClr val="000000"/>
                </a:solidFill>
                <a:latin typeface="Times New Roman" panose="02020603050405020304" pitchFamily="18" charset="0"/>
              </a:rPr>
              <a:t>Sắp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xếp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5029200"/>
            <a:ext cx="2814638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38600" y="3505200"/>
            <a:ext cx="2814638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gray">
          <a:xfrm>
            <a:off x="3429000" y="3355975"/>
            <a:ext cx="54864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200" b="1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I</a:t>
            </a:r>
            <a:endParaRPr lang="en-US" altLang="en-US" sz="3200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TỔNG QUAN VỀ CẤU TRÚC DỮ LIỆU VÀ GIẢI THUẬT</a:t>
            </a:r>
            <a:endParaRPr lang="en-US" altLang="en-US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17F7427-C84F-4D27-922E-55D885048A2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272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wheelReverse spokes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152400"/>
            <a:ext cx="6302375" cy="1143000"/>
          </a:xfrm>
        </p:spPr>
        <p:txBody>
          <a:bodyPr/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chính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5</a:t>
            </a:fld>
            <a:endParaRPr lang="en-US" altLang="en-US"/>
          </a:p>
        </p:txBody>
      </p:sp>
      <p:grpSp>
        <p:nvGrpSpPr>
          <p:cNvPr id="59" name="Group 59"/>
          <p:cNvGrpSpPr>
            <a:grpSpLocks/>
          </p:cNvGrpSpPr>
          <p:nvPr/>
        </p:nvGrpSpPr>
        <p:grpSpPr bwMode="auto">
          <a:xfrm>
            <a:off x="-1905000" y="1676400"/>
            <a:ext cx="9296401" cy="4430713"/>
            <a:chOff x="-576" y="1104"/>
            <a:chExt cx="5856" cy="2791"/>
          </a:xfrm>
        </p:grpSpPr>
        <p:sp>
          <p:nvSpPr>
            <p:cNvPr id="60" name="AutoShape 5"/>
            <p:cNvSpPr>
              <a:spLocks noChangeArrowheads="1"/>
            </p:cNvSpPr>
            <p:nvPr/>
          </p:nvSpPr>
          <p:spPr bwMode="gray">
            <a:xfrm rot="5400000">
              <a:off x="-576" y="1104"/>
              <a:ext cx="2791" cy="2791"/>
            </a:xfrm>
            <a:custGeom>
              <a:avLst/>
              <a:gdLst>
                <a:gd name="G0" fmla="+- 10478 0 0"/>
                <a:gd name="G1" fmla="+- -11739500 0 0"/>
                <a:gd name="G2" fmla="+- 0 0 -11739500"/>
                <a:gd name="T0" fmla="*/ 0 256 1"/>
                <a:gd name="T1" fmla="*/ 180 256 1"/>
                <a:gd name="G3" fmla="+- -11739500 T0 T1"/>
                <a:gd name="T2" fmla="*/ 0 256 1"/>
                <a:gd name="T3" fmla="*/ 90 256 1"/>
                <a:gd name="G4" fmla="+- -11739500 T2 T3"/>
                <a:gd name="G5" fmla="*/ G4 2 1"/>
                <a:gd name="T4" fmla="*/ 90 256 1"/>
                <a:gd name="T5" fmla="*/ 0 256 1"/>
                <a:gd name="G6" fmla="+- -11739500 T4 T5"/>
                <a:gd name="G7" fmla="*/ G6 2 1"/>
                <a:gd name="G8" fmla="abs -1173950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10478"/>
                <a:gd name="G18" fmla="*/ 10478 1 2"/>
                <a:gd name="G19" fmla="+- G18 5400 0"/>
                <a:gd name="G20" fmla="cos G19 -11739500"/>
                <a:gd name="G21" fmla="sin G19 -11739500"/>
                <a:gd name="G22" fmla="+- G20 10800 0"/>
                <a:gd name="G23" fmla="+- G21 10800 0"/>
                <a:gd name="G24" fmla="+- 10800 0 G20"/>
                <a:gd name="G25" fmla="+- 10478 10800 0"/>
                <a:gd name="G26" fmla="?: G9 G17 G25"/>
                <a:gd name="G27" fmla="?: G9 0 21600"/>
                <a:gd name="G28" fmla="cos 10800 -11739500"/>
                <a:gd name="G29" fmla="sin 10800 -11739500"/>
                <a:gd name="G30" fmla="sin 10478 -11739500"/>
                <a:gd name="G31" fmla="+- G28 10800 0"/>
                <a:gd name="G32" fmla="+- G29 10800 0"/>
                <a:gd name="G33" fmla="+- G30 10800 0"/>
                <a:gd name="G34" fmla="?: G4 0 G31"/>
                <a:gd name="G35" fmla="?: -11739500 G34 0"/>
                <a:gd name="G36" fmla="?: G6 G35 G31"/>
                <a:gd name="G37" fmla="+- 21600 0 G36"/>
                <a:gd name="G38" fmla="?: G4 0 G33"/>
                <a:gd name="G39" fmla="?: -1173950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62 w 21600"/>
                <a:gd name="T15" fmla="*/ 10638 h 21600"/>
                <a:gd name="T16" fmla="*/ 10800 w 21600"/>
                <a:gd name="T17" fmla="*/ 322 h 21600"/>
                <a:gd name="T18" fmla="*/ 21438 w 21600"/>
                <a:gd name="T19" fmla="*/ 10638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23" y="10641"/>
                  </a:moveTo>
                  <a:cubicBezTo>
                    <a:pt x="410" y="4916"/>
                    <a:pt x="5075" y="321"/>
                    <a:pt x="10800" y="322"/>
                  </a:cubicBezTo>
                  <a:cubicBezTo>
                    <a:pt x="16524" y="322"/>
                    <a:pt x="21189" y="4916"/>
                    <a:pt x="21276" y="10641"/>
                  </a:cubicBezTo>
                  <a:lnTo>
                    <a:pt x="21598" y="10636"/>
                  </a:lnTo>
                  <a:cubicBezTo>
                    <a:pt x="21509" y="4736"/>
                    <a:pt x="16700" y="-1"/>
                    <a:pt x="10799" y="0"/>
                  </a:cubicBezTo>
                  <a:cubicBezTo>
                    <a:pt x="4899" y="0"/>
                    <a:pt x="90" y="4736"/>
                    <a:pt x="1" y="10636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CC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AutoShape 13"/>
            <p:cNvSpPr>
              <a:spLocks noChangeArrowheads="1"/>
            </p:cNvSpPr>
            <p:nvPr/>
          </p:nvSpPr>
          <p:spPr bwMode="ltGray">
            <a:xfrm rot="5400000">
              <a:off x="-425" y="1310"/>
              <a:ext cx="2374" cy="2373"/>
            </a:xfrm>
            <a:custGeom>
              <a:avLst/>
              <a:gdLst>
                <a:gd name="G0" fmla="+- 744 0 0"/>
                <a:gd name="G1" fmla="+- 11756105 0 0"/>
                <a:gd name="G2" fmla="+- 0 0 11756105"/>
                <a:gd name="T0" fmla="*/ 0 256 1"/>
                <a:gd name="T1" fmla="*/ 180 256 1"/>
                <a:gd name="G3" fmla="+- 11756105 T0 T1"/>
                <a:gd name="T2" fmla="*/ 0 256 1"/>
                <a:gd name="T3" fmla="*/ 90 256 1"/>
                <a:gd name="G4" fmla="+- 11756105 T2 T3"/>
                <a:gd name="G5" fmla="*/ G4 2 1"/>
                <a:gd name="T4" fmla="*/ 90 256 1"/>
                <a:gd name="T5" fmla="*/ 0 256 1"/>
                <a:gd name="G6" fmla="+- 11756105 T4 T5"/>
                <a:gd name="G7" fmla="*/ G6 2 1"/>
                <a:gd name="G8" fmla="abs 11756105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744"/>
                <a:gd name="G18" fmla="*/ 744 1 2"/>
                <a:gd name="G19" fmla="+- G18 5400 0"/>
                <a:gd name="G20" fmla="cos G19 11756105"/>
                <a:gd name="G21" fmla="sin G19 11756105"/>
                <a:gd name="G22" fmla="+- G20 10800 0"/>
                <a:gd name="G23" fmla="+- G21 10800 0"/>
                <a:gd name="G24" fmla="+- 10800 0 G20"/>
                <a:gd name="G25" fmla="+- 744 10800 0"/>
                <a:gd name="G26" fmla="?: G9 G17 G25"/>
                <a:gd name="G27" fmla="?: G9 0 21600"/>
                <a:gd name="G28" fmla="cos 10800 11756105"/>
                <a:gd name="G29" fmla="sin 10800 11756105"/>
                <a:gd name="G30" fmla="sin 744 11756105"/>
                <a:gd name="G31" fmla="+- G28 10800 0"/>
                <a:gd name="G32" fmla="+- G29 10800 0"/>
                <a:gd name="G33" fmla="+- G30 10800 0"/>
                <a:gd name="G34" fmla="?: G4 0 G31"/>
                <a:gd name="G35" fmla="?: 11756105 G34 0"/>
                <a:gd name="G36" fmla="?: G6 G35 G31"/>
                <a:gd name="G37" fmla="+- 21600 0 G36"/>
                <a:gd name="G38" fmla="?: G4 0 G33"/>
                <a:gd name="G39" fmla="?: 11756105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5028 w 21600"/>
                <a:gd name="T15" fmla="*/ 10862 h 21600"/>
                <a:gd name="T16" fmla="*/ 10800 w 21600"/>
                <a:gd name="T17" fmla="*/ 10056 h 21600"/>
                <a:gd name="T18" fmla="*/ 16572 w 21600"/>
                <a:gd name="T19" fmla="*/ 10862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0056" y="10807"/>
                  </a:moveTo>
                  <a:cubicBezTo>
                    <a:pt x="10056" y="10805"/>
                    <a:pt x="10056" y="10802"/>
                    <a:pt x="10056" y="10800"/>
                  </a:cubicBezTo>
                  <a:cubicBezTo>
                    <a:pt x="10056" y="10389"/>
                    <a:pt x="10389" y="10056"/>
                    <a:pt x="10800" y="10056"/>
                  </a:cubicBezTo>
                  <a:cubicBezTo>
                    <a:pt x="11210" y="10056"/>
                    <a:pt x="11544" y="10389"/>
                    <a:pt x="11544" y="10800"/>
                  </a:cubicBezTo>
                  <a:cubicBezTo>
                    <a:pt x="11544" y="10802"/>
                    <a:pt x="11543" y="10805"/>
                    <a:pt x="11543" y="10807"/>
                  </a:cubicBezTo>
                  <a:lnTo>
                    <a:pt x="21599" y="10916"/>
                  </a:lnTo>
                  <a:cubicBezTo>
                    <a:pt x="21599" y="10877"/>
                    <a:pt x="21600" y="1083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0838"/>
                    <a:pt x="0" y="10877"/>
                    <a:pt x="0" y="10916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99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3" name="Group 57"/>
            <p:cNvGrpSpPr>
              <a:grpSpLocks/>
            </p:cNvGrpSpPr>
            <p:nvPr/>
          </p:nvGrpSpPr>
          <p:grpSpPr bwMode="auto">
            <a:xfrm>
              <a:off x="1698" y="1437"/>
              <a:ext cx="3273" cy="334"/>
              <a:chOff x="1698" y="1437"/>
              <a:chExt cx="3273" cy="334"/>
            </a:xfrm>
          </p:grpSpPr>
          <p:sp>
            <p:nvSpPr>
              <p:cNvPr id="104" name="AutoShape 21"/>
              <p:cNvSpPr>
                <a:spLocks noChangeArrowheads="1"/>
              </p:cNvSpPr>
              <p:nvPr/>
            </p:nvSpPr>
            <p:spPr bwMode="gray">
              <a:xfrm>
                <a:off x="1931" y="1437"/>
                <a:ext cx="3040" cy="334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33CCFF"/>
                  </a:gs>
                  <a:gs pos="100000">
                    <a:srgbClr val="003399">
                      <a:alpha val="5000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5" name="Group 22"/>
              <p:cNvGrpSpPr>
                <a:grpSpLocks/>
              </p:cNvGrpSpPr>
              <p:nvPr/>
            </p:nvGrpSpPr>
            <p:grpSpPr bwMode="auto">
              <a:xfrm>
                <a:off x="1698" y="1447"/>
                <a:ext cx="316" cy="316"/>
                <a:chOff x="1583" y="1494"/>
                <a:chExt cx="526" cy="526"/>
              </a:xfrm>
            </p:grpSpPr>
            <p:sp>
              <p:nvSpPr>
                <p:cNvPr id="108" name="Oval 23"/>
                <p:cNvSpPr>
                  <a:spLocks noChangeArrowheads="1"/>
                </p:cNvSpPr>
                <p:nvPr/>
              </p:nvSpPr>
              <p:spPr bwMode="gray">
                <a:xfrm>
                  <a:off x="1583" y="1494"/>
                  <a:ext cx="526" cy="526"/>
                </a:xfrm>
                <a:prstGeom prst="ellipse">
                  <a:avLst/>
                </a:prstGeom>
                <a:solidFill>
                  <a:srgbClr val="33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" name="Oval 24"/>
                <p:cNvSpPr>
                  <a:spLocks noChangeArrowheads="1"/>
                </p:cNvSpPr>
                <p:nvPr/>
              </p:nvSpPr>
              <p:spPr bwMode="gray">
                <a:xfrm>
                  <a:off x="1634" y="1547"/>
                  <a:ext cx="425" cy="42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10E470"/>
                    </a:gs>
                    <a:gs pos="100000">
                      <a:srgbClr val="10E470">
                        <a:gamma/>
                        <a:shade val="57255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Oval 25"/>
                <p:cNvSpPr>
                  <a:spLocks noChangeArrowheads="1"/>
                </p:cNvSpPr>
                <p:nvPr/>
              </p:nvSpPr>
              <p:spPr bwMode="gray">
                <a:xfrm>
                  <a:off x="1642" y="1557"/>
                  <a:ext cx="406" cy="40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85001"/>
                      </a:srgbClr>
                    </a:gs>
                    <a:gs pos="100000">
                      <a:srgbClr val="FFFF00">
                        <a:gamma/>
                        <a:shade val="63529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Oval 26"/>
                <p:cNvSpPr>
                  <a:spLocks noChangeArrowheads="1"/>
                </p:cNvSpPr>
                <p:nvPr/>
              </p:nvSpPr>
              <p:spPr bwMode="gray">
                <a:xfrm>
                  <a:off x="1652" y="1582"/>
                  <a:ext cx="265" cy="2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9940B">
                        <a:gamma/>
                        <a:tint val="0"/>
                        <a:invGamma/>
                      </a:srgbClr>
                    </a:gs>
                    <a:gs pos="100000">
                      <a:srgbClr val="E9940B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Oval 27"/>
                <p:cNvSpPr>
                  <a:spLocks noChangeArrowheads="1"/>
                </p:cNvSpPr>
                <p:nvPr/>
              </p:nvSpPr>
              <p:spPr bwMode="gray">
                <a:xfrm>
                  <a:off x="1659" y="1571"/>
                  <a:ext cx="366" cy="3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0"/>
                      </a:srgbClr>
                    </a:gs>
                    <a:gs pos="100000">
                      <a:srgbClr val="FFFF00">
                        <a:gamma/>
                        <a:shade val="76078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6" name="Text Box 43"/>
              <p:cNvSpPr txBox="1">
                <a:spLocks noChangeArrowheads="1"/>
              </p:cNvSpPr>
              <p:nvPr/>
            </p:nvSpPr>
            <p:spPr bwMode="auto">
              <a:xfrm>
                <a:off x="1747" y="1481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7" name="Text Box 48"/>
              <p:cNvSpPr txBox="1">
                <a:spLocks noChangeArrowheads="1"/>
              </p:cNvSpPr>
              <p:nvPr/>
            </p:nvSpPr>
            <p:spPr bwMode="auto">
              <a:xfrm>
                <a:off x="2064" y="1491"/>
                <a:ext cx="2115" cy="25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rgbClr val="003B76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kumimoji="0" lang="en-US" altLang="en-US" sz="2000" b="1" i="0" u="none" strike="noStrike" kern="0" cap="none" spc="0" normalizeH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hình hóa bài toán thực tế</a:t>
                </a:r>
                <a:endParaRPr kumimoji="0" lang="en-US" alt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Group 56"/>
            <p:cNvGrpSpPr>
              <a:grpSpLocks/>
            </p:cNvGrpSpPr>
            <p:nvPr/>
          </p:nvGrpSpPr>
          <p:grpSpPr bwMode="auto">
            <a:xfrm>
              <a:off x="1952" y="2019"/>
              <a:ext cx="3274" cy="333"/>
              <a:chOff x="1952" y="2019"/>
              <a:chExt cx="3274" cy="333"/>
            </a:xfrm>
          </p:grpSpPr>
          <p:sp>
            <p:nvSpPr>
              <p:cNvPr id="95" name="AutoShape 14"/>
              <p:cNvSpPr>
                <a:spLocks noChangeArrowheads="1"/>
              </p:cNvSpPr>
              <p:nvPr/>
            </p:nvSpPr>
            <p:spPr bwMode="gray">
              <a:xfrm>
                <a:off x="2185" y="2019"/>
                <a:ext cx="3041" cy="333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CCFF"/>
                  </a:gs>
                  <a:gs pos="100000">
                    <a:srgbClr val="003399">
                      <a:alpha val="5000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6" name="Group 15"/>
              <p:cNvGrpSpPr>
                <a:grpSpLocks/>
              </p:cNvGrpSpPr>
              <p:nvPr/>
            </p:nvGrpSpPr>
            <p:grpSpPr bwMode="auto">
              <a:xfrm>
                <a:off x="1952" y="2036"/>
                <a:ext cx="316" cy="315"/>
                <a:chOff x="1583" y="1715"/>
                <a:chExt cx="526" cy="526"/>
              </a:xfrm>
            </p:grpSpPr>
            <p:sp>
              <p:nvSpPr>
                <p:cNvPr id="99" name="Oval 16"/>
                <p:cNvSpPr>
                  <a:spLocks noChangeArrowheads="1"/>
                </p:cNvSpPr>
                <p:nvPr/>
              </p:nvSpPr>
              <p:spPr bwMode="gray">
                <a:xfrm>
                  <a:off x="1583" y="1715"/>
                  <a:ext cx="526" cy="526"/>
                </a:xfrm>
                <a:prstGeom prst="ellipse">
                  <a:avLst/>
                </a:prstGeom>
                <a:solidFill>
                  <a:srgbClr val="00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Oval 17"/>
                <p:cNvSpPr>
                  <a:spLocks noChangeArrowheads="1"/>
                </p:cNvSpPr>
                <p:nvPr/>
              </p:nvSpPr>
              <p:spPr bwMode="gray">
                <a:xfrm>
                  <a:off x="1634" y="1760"/>
                  <a:ext cx="425" cy="42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10E470"/>
                    </a:gs>
                    <a:gs pos="100000">
                      <a:srgbClr val="10E470">
                        <a:gamma/>
                        <a:shade val="57255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Oval 18"/>
                <p:cNvSpPr>
                  <a:spLocks noChangeArrowheads="1"/>
                </p:cNvSpPr>
                <p:nvPr/>
              </p:nvSpPr>
              <p:spPr bwMode="gray">
                <a:xfrm>
                  <a:off x="1642" y="1762"/>
                  <a:ext cx="406" cy="40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85001"/>
                      </a:srgbClr>
                    </a:gs>
                    <a:gs pos="100000">
                      <a:srgbClr val="FFFF00">
                        <a:gamma/>
                        <a:shade val="63529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Oval 19"/>
                <p:cNvSpPr>
                  <a:spLocks noChangeArrowheads="1"/>
                </p:cNvSpPr>
                <p:nvPr/>
              </p:nvSpPr>
              <p:spPr bwMode="gray">
                <a:xfrm>
                  <a:off x="1652" y="1816"/>
                  <a:ext cx="265" cy="2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9940B">
                        <a:gamma/>
                        <a:tint val="0"/>
                        <a:invGamma/>
                      </a:srgbClr>
                    </a:gs>
                    <a:gs pos="100000">
                      <a:srgbClr val="E9940B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Oval 20"/>
                <p:cNvSpPr>
                  <a:spLocks noChangeArrowheads="1"/>
                </p:cNvSpPr>
                <p:nvPr/>
              </p:nvSpPr>
              <p:spPr bwMode="gray">
                <a:xfrm>
                  <a:off x="1659" y="1762"/>
                  <a:ext cx="366" cy="3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0"/>
                      </a:srgbClr>
                    </a:gs>
                    <a:gs pos="100000">
                      <a:srgbClr val="FFFF00">
                        <a:gamma/>
                        <a:shade val="76078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7" name="Text Box 44"/>
              <p:cNvSpPr txBox="1">
                <a:spLocks noChangeArrowheads="1"/>
              </p:cNvSpPr>
              <p:nvPr/>
            </p:nvSpPr>
            <p:spPr bwMode="auto">
              <a:xfrm>
                <a:off x="2009" y="205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8" name="Text Box 49"/>
              <p:cNvSpPr txBox="1">
                <a:spLocks noChangeArrowheads="1"/>
              </p:cNvSpPr>
              <p:nvPr/>
            </p:nvSpPr>
            <p:spPr bwMode="auto">
              <a:xfrm>
                <a:off x="2304" y="2052"/>
                <a:ext cx="1249" cy="25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rgbClr val="003B76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Cấu</a:t>
                </a:r>
                <a:r>
                  <a:rPr kumimoji="0" lang="en-US" altLang="en-US" sz="2000" b="1" i="0" u="none" strike="noStrike" kern="0" cap="none" spc="0" normalizeH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trúc dữ liệu</a:t>
                </a:r>
                <a:endParaRPr kumimoji="0" lang="en-US" alt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Group 55"/>
            <p:cNvGrpSpPr>
              <a:grpSpLocks/>
            </p:cNvGrpSpPr>
            <p:nvPr/>
          </p:nvGrpSpPr>
          <p:grpSpPr bwMode="auto">
            <a:xfrm>
              <a:off x="2006" y="2592"/>
              <a:ext cx="3274" cy="336"/>
              <a:chOff x="2006" y="2592"/>
              <a:chExt cx="3274" cy="336"/>
            </a:xfrm>
          </p:grpSpPr>
          <p:sp>
            <p:nvSpPr>
              <p:cNvPr id="86" name="AutoShape 6"/>
              <p:cNvSpPr>
                <a:spLocks noChangeArrowheads="1"/>
              </p:cNvSpPr>
              <p:nvPr/>
            </p:nvSpPr>
            <p:spPr bwMode="gray">
              <a:xfrm>
                <a:off x="2240" y="2595"/>
                <a:ext cx="3040" cy="333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CCFF"/>
                  </a:gs>
                  <a:gs pos="100000">
                    <a:srgbClr val="003399">
                      <a:alpha val="5000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7" name="Group 7"/>
              <p:cNvGrpSpPr>
                <a:grpSpLocks/>
              </p:cNvGrpSpPr>
              <p:nvPr/>
            </p:nvGrpSpPr>
            <p:grpSpPr bwMode="auto">
              <a:xfrm>
                <a:off x="2006" y="2592"/>
                <a:ext cx="316" cy="316"/>
                <a:chOff x="1583" y="1872"/>
                <a:chExt cx="526" cy="526"/>
              </a:xfrm>
            </p:grpSpPr>
            <p:sp>
              <p:nvSpPr>
                <p:cNvPr id="90" name="Oval 8"/>
                <p:cNvSpPr>
                  <a:spLocks noChangeArrowheads="1"/>
                </p:cNvSpPr>
                <p:nvPr/>
              </p:nvSpPr>
              <p:spPr bwMode="gray">
                <a:xfrm>
                  <a:off x="1583" y="1872"/>
                  <a:ext cx="526" cy="526"/>
                </a:xfrm>
                <a:prstGeom prst="ellipse">
                  <a:avLst/>
                </a:prstGeom>
                <a:solidFill>
                  <a:srgbClr val="00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Oval 9"/>
                <p:cNvSpPr>
                  <a:spLocks noChangeArrowheads="1"/>
                </p:cNvSpPr>
                <p:nvPr/>
              </p:nvSpPr>
              <p:spPr bwMode="gray">
                <a:xfrm>
                  <a:off x="1634" y="1926"/>
                  <a:ext cx="425" cy="42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10E470"/>
                    </a:gs>
                    <a:gs pos="100000">
                      <a:srgbClr val="10E470">
                        <a:gamma/>
                        <a:shade val="57255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Oval 10"/>
                <p:cNvSpPr>
                  <a:spLocks noChangeArrowheads="1"/>
                </p:cNvSpPr>
                <p:nvPr/>
              </p:nvSpPr>
              <p:spPr bwMode="gray">
                <a:xfrm>
                  <a:off x="1642" y="1945"/>
                  <a:ext cx="406" cy="40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85001"/>
                      </a:srgbClr>
                    </a:gs>
                    <a:gs pos="100000">
                      <a:srgbClr val="FFFF00">
                        <a:gamma/>
                        <a:shade val="63529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Oval 11"/>
                <p:cNvSpPr>
                  <a:spLocks noChangeArrowheads="1"/>
                </p:cNvSpPr>
                <p:nvPr/>
              </p:nvSpPr>
              <p:spPr bwMode="gray">
                <a:xfrm>
                  <a:off x="1680" y="2005"/>
                  <a:ext cx="265" cy="2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9940B">
                        <a:gamma/>
                        <a:tint val="0"/>
                        <a:invGamma/>
                      </a:srgbClr>
                    </a:gs>
                    <a:gs pos="100000">
                      <a:srgbClr val="E9940B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Oval 12"/>
                <p:cNvSpPr>
                  <a:spLocks noChangeArrowheads="1"/>
                </p:cNvSpPr>
                <p:nvPr/>
              </p:nvSpPr>
              <p:spPr bwMode="gray">
                <a:xfrm>
                  <a:off x="1680" y="1985"/>
                  <a:ext cx="366" cy="3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0"/>
                      </a:srgbClr>
                    </a:gs>
                    <a:gs pos="100000">
                      <a:srgbClr val="FFFF00">
                        <a:gamma/>
                        <a:shade val="76078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8" name="Text Box 45"/>
              <p:cNvSpPr txBox="1">
                <a:spLocks noChangeArrowheads="1"/>
              </p:cNvSpPr>
              <p:nvPr/>
            </p:nvSpPr>
            <p:spPr bwMode="auto">
              <a:xfrm>
                <a:off x="2063" y="2648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89" name="Text Box 50"/>
              <p:cNvSpPr txBox="1">
                <a:spLocks noChangeArrowheads="1"/>
              </p:cNvSpPr>
              <p:nvPr/>
            </p:nvSpPr>
            <p:spPr bwMode="auto">
              <a:xfrm>
                <a:off x="2352" y="2657"/>
                <a:ext cx="819" cy="25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rgbClr val="003B76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2000" b="1" kern="0" smtClea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 thuật</a:t>
                </a:r>
                <a:endParaRPr kumimoji="0" lang="en-US" alt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7" name="Group 53"/>
            <p:cNvGrpSpPr>
              <a:grpSpLocks/>
            </p:cNvGrpSpPr>
            <p:nvPr/>
          </p:nvGrpSpPr>
          <p:grpSpPr bwMode="auto">
            <a:xfrm>
              <a:off x="1669" y="3270"/>
              <a:ext cx="3274" cy="334"/>
              <a:chOff x="1669" y="3270"/>
              <a:chExt cx="3274" cy="334"/>
            </a:xfrm>
          </p:grpSpPr>
          <p:sp>
            <p:nvSpPr>
              <p:cNvPr id="68" name="AutoShape 35"/>
              <p:cNvSpPr>
                <a:spLocks noChangeArrowheads="1"/>
              </p:cNvSpPr>
              <p:nvPr/>
            </p:nvSpPr>
            <p:spPr bwMode="gray">
              <a:xfrm>
                <a:off x="1902" y="3270"/>
                <a:ext cx="3041" cy="334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CCFF"/>
                  </a:gs>
                  <a:gs pos="100000">
                    <a:srgbClr val="003399">
                      <a:alpha val="50000"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" name="Group 36"/>
              <p:cNvGrpSpPr>
                <a:grpSpLocks/>
              </p:cNvGrpSpPr>
              <p:nvPr/>
            </p:nvGrpSpPr>
            <p:grpSpPr bwMode="auto">
              <a:xfrm>
                <a:off x="1669" y="3281"/>
                <a:ext cx="316" cy="316"/>
                <a:chOff x="1583" y="1494"/>
                <a:chExt cx="526" cy="526"/>
              </a:xfrm>
            </p:grpSpPr>
            <p:sp>
              <p:nvSpPr>
                <p:cNvPr id="72" name="Oval 37"/>
                <p:cNvSpPr>
                  <a:spLocks noChangeArrowheads="1"/>
                </p:cNvSpPr>
                <p:nvPr/>
              </p:nvSpPr>
              <p:spPr bwMode="gray">
                <a:xfrm>
                  <a:off x="1583" y="1494"/>
                  <a:ext cx="526" cy="526"/>
                </a:xfrm>
                <a:prstGeom prst="ellipse">
                  <a:avLst/>
                </a:prstGeom>
                <a:solidFill>
                  <a:srgbClr val="00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" name="Oval 38"/>
                <p:cNvSpPr>
                  <a:spLocks noChangeArrowheads="1"/>
                </p:cNvSpPr>
                <p:nvPr/>
              </p:nvSpPr>
              <p:spPr bwMode="gray">
                <a:xfrm>
                  <a:off x="1634" y="1547"/>
                  <a:ext cx="425" cy="42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10E470"/>
                    </a:gs>
                    <a:gs pos="100000">
                      <a:srgbClr val="10E470">
                        <a:gamma/>
                        <a:shade val="57255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Oval 39"/>
                <p:cNvSpPr>
                  <a:spLocks noChangeArrowheads="1"/>
                </p:cNvSpPr>
                <p:nvPr/>
              </p:nvSpPr>
              <p:spPr bwMode="gray">
                <a:xfrm>
                  <a:off x="1642" y="1557"/>
                  <a:ext cx="406" cy="40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85001"/>
                      </a:srgbClr>
                    </a:gs>
                    <a:gs pos="100000">
                      <a:srgbClr val="FFFF00">
                        <a:gamma/>
                        <a:shade val="63529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" name="Oval 40"/>
                <p:cNvSpPr>
                  <a:spLocks noChangeArrowheads="1"/>
                </p:cNvSpPr>
                <p:nvPr/>
              </p:nvSpPr>
              <p:spPr bwMode="gray">
                <a:xfrm>
                  <a:off x="1652" y="1582"/>
                  <a:ext cx="265" cy="2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9940B">
                        <a:gamma/>
                        <a:tint val="0"/>
                        <a:invGamma/>
                      </a:srgbClr>
                    </a:gs>
                    <a:gs pos="100000">
                      <a:srgbClr val="E9940B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" name="Oval 41"/>
                <p:cNvSpPr>
                  <a:spLocks noChangeArrowheads="1"/>
                </p:cNvSpPr>
                <p:nvPr/>
              </p:nvSpPr>
              <p:spPr bwMode="gray">
                <a:xfrm>
                  <a:off x="1659" y="1571"/>
                  <a:ext cx="366" cy="3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00">
                        <a:alpha val="0"/>
                      </a:srgbClr>
                    </a:gs>
                    <a:gs pos="100000">
                      <a:srgbClr val="FFFF00">
                        <a:gamma/>
                        <a:shade val="76078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52400" dir="16200000" sy="-100000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0" name="Text Box 47"/>
              <p:cNvSpPr txBox="1">
                <a:spLocks noChangeArrowheads="1"/>
              </p:cNvSpPr>
              <p:nvPr/>
            </p:nvSpPr>
            <p:spPr bwMode="auto">
              <a:xfrm>
                <a:off x="1720" y="3326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2000" b="1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0" lang="en-US" altLang="en-US" sz="20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Text Box 52"/>
              <p:cNvSpPr txBox="1">
                <a:spLocks noChangeArrowheads="1"/>
              </p:cNvSpPr>
              <p:nvPr/>
            </p:nvSpPr>
            <p:spPr bwMode="auto">
              <a:xfrm>
                <a:off x="2016" y="3300"/>
                <a:ext cx="1071" cy="25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rgbClr val="003B76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Chương</a:t>
                </a:r>
                <a:r>
                  <a:rPr kumimoji="0" lang="en-US" altLang="en-US" sz="2000" b="1" i="0" u="none" strike="noStrike" kern="0" cap="none" spc="0" normalizeH="0" noProof="0" dirty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trình</a:t>
                </a:r>
                <a:endParaRPr kumimoji="0" lang="en-US" alt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14" name="Picture 25" descr="1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73" y="3033501"/>
            <a:ext cx="127952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25683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425" y="457200"/>
            <a:ext cx="6302375" cy="5334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1.1 Mô hình hóa bài toán thực tế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bài toán thực tế theo hướng tin học hóa</a:t>
            </a:r>
          </a:p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bài toán:</a:t>
            </a:r>
          </a:p>
          <a:p>
            <a:pPr lvl="1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 làm gì?</a:t>
            </a:r>
          </a:p>
          <a:p>
            <a:pPr lvl="1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 làm như thế nào?</a:t>
            </a:r>
          </a:p>
          <a:p>
            <a:pPr marL="0" lvl="1" indent="0">
              <a:buNone/>
            </a:pPr>
            <a:endParaRPr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None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Tô màu bản đồ thế giới.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247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425" y="457200"/>
            <a:ext cx="6302375" cy="5334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 Cấu trúc dữ liệu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 anchor="ctr"/>
          <a:lstStyle/>
          <a:p>
            <a:pPr marL="285750" indent="-285750" algn="just">
              <a:spcBef>
                <a:spcPts val="800"/>
              </a:spcBef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Kiểu dữ </a:t>
            </a: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một tập hợp các giá trị và một tập hợp các phép toán trên các giá trị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đó.</a:t>
            </a:r>
          </a:p>
          <a:p>
            <a:pPr marL="285750" indent="-285750" algn="just">
              <a:spcBef>
                <a:spcPts val="800"/>
              </a:spcBef>
            </a:pP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Kiểu dữ liệu có hai 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85800" lvl="1" algn="just">
              <a:spcBef>
                <a:spcPts val="800"/>
              </a:spcBef>
            </a:pP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sơ 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 algn="just">
              <a:spcBef>
                <a:spcPts val="800"/>
              </a:spcBef>
              <a:buNone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VD: K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iểu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Boolean, Integer, character, float….</a:t>
            </a:r>
          </a:p>
          <a:p>
            <a:pPr marL="685800" lvl="1" algn="just">
              <a:spcBef>
                <a:spcPts val="800"/>
              </a:spcBef>
            </a:pP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có cấu 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(CTDL):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kiểu dữ liệu mà giá trị dữ liệu của nó là sự kết hợp của các giá trị khác. 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 algn="just">
              <a:spcBef>
                <a:spcPts val="800"/>
              </a:spcBef>
              <a:buNone/>
            </a:pP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dụ: Kiểu mảng, kiểu cấu trúc, danh sách liên kết….</a:t>
            </a:r>
          </a:p>
          <a:p>
            <a:pPr marL="685800" lvl="1" algn="just">
              <a:spcBef>
                <a:spcPts val="800"/>
              </a:spcBef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80000"/>
              </a:spcBef>
            </a:pP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11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425" y="457200"/>
            <a:ext cx="7673975" cy="533400"/>
          </a:xfrm>
          <a:solidFill>
            <a:srgbClr val="FFFFFF"/>
          </a:solidFill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Vai trò của việc lựa chọn CTDL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 anchor="ctr"/>
          <a:lstStyle/>
          <a:p>
            <a:pPr algn="just">
              <a:lnSpc>
                <a:spcPct val="90000"/>
              </a:lnSpc>
            </a:pP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 hợp và đưa ra cách giải quyết cho bài toán.</a:t>
            </a:r>
          </a:p>
          <a:p>
            <a:pPr algn="just">
              <a:lnSpc>
                <a:spcPct val="90000"/>
              </a:lnSpc>
            </a:pP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Hỗ trợ cho thuật toán thao tác trên các đối tượng được hiệu quả hơn.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6229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 anchor="ctr"/>
          <a:lstStyle/>
          <a:p>
            <a:pPr marL="228600" indent="-228600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biểu diễn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đầy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đủ thông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 nhập và xuất của bài toán.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Phải phù hợp với các thao tác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 thuật toán mà ta lựa chọn.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Phù hợp với điều kiện cho phép của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NNLT đang sử dụng.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Tiết kiệm tài nguyên hệ thống.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6400800" y="685800"/>
            <a:ext cx="663575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00800" y="685800"/>
            <a:ext cx="663575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 bwMode="gray">
          <a:xfrm>
            <a:off x="936625" y="152400"/>
            <a:ext cx="63023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 chuẩn lựa chọn CTDL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821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457200"/>
            <a:ext cx="6302375" cy="5334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cấu trúc dữ liệu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 anchor="ctr"/>
          <a:lstStyle/>
          <a:p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trúc dữ liệu tuyến tính: </a:t>
            </a: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trúc dữ liệu dạng cây: </a:t>
            </a: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trúc dữ liệu bảng băm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trúc dữ liệu dạng đồ thị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33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152400"/>
            <a:ext cx="6302375" cy="11430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9069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Tại sao sử dụng máy tính để xử lý dữ liệu?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Nhanh hơn.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Nhiều hơn.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de-DE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những bài toán mà con người không thể hoàn thành được.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Làm sao đạt được những mục tiêu đó?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Nhờ vào sự tiến bộ của kỹ thuật: tăng cấu hình máy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chi phí cao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Nhờ vào các thuật toán hiệu quả: thông minh và chi phí thấp 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en-US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“Một máy tính siêu hạng vẫn không thể cứu vãn một thuật toán tồi !”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8550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625" y="152400"/>
            <a:ext cx="6302375" cy="11430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 thuật toán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 hay thuật toán là một chuỗi hữu hạn các thao tác để giải một bài toán nào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đó.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52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625" y="152400"/>
            <a:ext cx="6302375" cy="11430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chất của thuật toán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525963"/>
          </a:xfrm>
        </p:spPr>
        <p:txBody>
          <a:bodyPr/>
          <a:lstStyle/>
          <a:p>
            <a:pPr lvl="0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Hữu hạn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Giải thuật phải luôn luôn kết thúc sau một số hữu hạn bước.</a:t>
            </a:r>
          </a:p>
          <a:p>
            <a:pPr lvl="0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Mỗi bước của giải thuật phải được xác định rõ ràng và phải được thực hiện chính xác, nhất quán.</a:t>
            </a:r>
          </a:p>
          <a:p>
            <a:pPr lvl="0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Giải thuật phải đảm bảo tính đúng và chính xác;</a:t>
            </a:r>
          </a:p>
          <a:p>
            <a:pPr lvl="0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Hiệu quả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: Các thao tác trong giải thuật phải được thực hiện trong một lượng thời gian hữu hạn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lvl="0" indent="0">
              <a:buNone/>
            </a:pPr>
            <a:r>
              <a:rPr lang="en-US" sz="28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Ngoài ra thuật toán còn phải có dữ liệu đầu vào và đầu ra</a:t>
            </a:r>
            <a:endParaRPr lang="en-US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50004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625" y="152400"/>
            <a:ext cx="6302375" cy="11430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Biểu diễn giải thuật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0" indent="0">
              <a:spcBef>
                <a:spcPct val="50000"/>
              </a:spcBef>
              <a:buNone/>
            </a:pP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</a:t>
            </a:r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dụng ngôn ngữ tự nhiên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Liệt kê tuần tự các bước để giải quyết bài 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dài 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dòng và đôi khi khó hiểu.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</a:t>
            </a:r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dụng lưu đồ 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(sơ đồ khối): 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trực quan và dễ hiểu , tuy nhiên hơi cồng kềnh.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</a:t>
            </a:r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dụng mã giả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đỡ cồng 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kềnh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tuy 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nhiên không trực quan.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</a:t>
            </a:r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dụng ngôn ngữ lập trình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vi-VN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đòi 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hỏi phải có kiến thức và kỹ năng về ngôn ngữ lập trình được sử dụng.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30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38150"/>
            <a:ext cx="6705600" cy="604838"/>
          </a:xfrm>
          <a:solidFill>
            <a:srgbClr val="FFFFFF"/>
          </a:solidFill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ộ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phức tạp của thuật toán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/>
          <a:lstStyle/>
          <a:p>
            <a:pPr marL="0" indent="0">
              <a:buNone/>
            </a:pP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 chạy một chương trình phụ thuộc vào các yếu tố sau:</a:t>
            </a:r>
          </a:p>
          <a:p>
            <a:pPr marL="400050" lvl="1" indent="0">
              <a:buNone/>
            </a:pP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Khối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lượng của dữ liệu đầu vào.</a:t>
            </a:r>
          </a:p>
          <a:p>
            <a:pPr marL="400050" lvl="1" indent="0">
              <a:buNone/>
            </a:pP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Chất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lượng của mã máy được tạo ra bởi trình dịch.</a:t>
            </a:r>
          </a:p>
          <a:p>
            <a:pPr marL="400050" lvl="1" indent="0">
              <a:buNone/>
            </a:pP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Tốc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độ thực thi lệnh của máy.</a:t>
            </a:r>
          </a:p>
          <a:p>
            <a:pPr marL="400050" lvl="1" indent="0">
              <a:buNone/>
            </a:pP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phức tạp về thời gian của thuật toán</a:t>
            </a:r>
          </a:p>
          <a:p>
            <a:pPr marL="0" indent="0">
              <a:buNone/>
            </a:pP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Một thuật toán được gọi là hiệu quả nếu </a:t>
            </a:r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chi phí cần sử dụng tài nguyên của máy là thấp </a:t>
            </a:r>
            <a:r>
              <a:rPr lang="vi-V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380683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6869112" cy="538162"/>
          </a:xfrm>
          <a:solidFill>
            <a:srgbClr val="FFFFFF"/>
          </a:solidFill>
        </p:spPr>
        <p:txBody>
          <a:bodyPr/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độ phức tạp của thuật toán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Để mô tả việc đánh giá độ phức tạp của thuật toán người ta sử dụng một hàm f(N), trong đó N là khối lượng dữ liệu cần được xử lý. </a:t>
            </a: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Có hai phương pháp để đánh giá độ phức tạp của thuật toán gồm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thực nghiệm:</a:t>
            </a:r>
          </a:p>
          <a:p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xấp xỉ toán học: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83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6869112" cy="538162"/>
          </a:xfrm>
          <a:solidFill>
            <a:srgbClr val="FFFFFF"/>
          </a:solidFill>
        </p:spPr>
        <p:txBody>
          <a:bodyPr/>
          <a:lstStyle/>
          <a:p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thực nghiệm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gray">
          <a:xfrm>
            <a:off x="457200" y="1066800"/>
            <a:ext cx="82296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Cài thuật toán rồi chọn các bộ dữ liệu thử nghiệm, thống kê các thông số nhận được khi chạy các bộ dữ liệu đó.</a:t>
            </a:r>
          </a:p>
          <a:p>
            <a:r>
              <a:rPr lang="en-US" altLang="en-US" sz="2800" i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Ưu điểm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Dễ thực hiện.</a:t>
            </a:r>
          </a:p>
          <a:p>
            <a:r>
              <a:rPr lang="en-US" altLang="en-US" sz="2800" i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Nhược điểm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Chịu sự hạn chế của ngôn ngữ lập trình.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bởi trình độ của người lập trình.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 được các bộ dữ liệu thử đặc trưng cho tất cả tập các dữ liệu vào của thuật toán: khó khăn và tốn nhiều chi phí.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vào phần cứng.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86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152400"/>
            <a:ext cx="6302375" cy="1143000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xấp xỉ toán học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06963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giá thuật toán theo hướng tiệm xấp xỉ tiệm cận qua các khái niệm O().</a:t>
            </a:r>
          </a:p>
          <a:p>
            <a:pPr algn="just">
              <a:spcBef>
                <a:spcPct val="50000"/>
              </a:spcBef>
            </a:pPr>
            <a:r>
              <a:rPr lang="en-US" alt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Ưu điểm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Ít phụ thuộc môi trường cũng như phần cứng hơn.</a:t>
            </a:r>
          </a:p>
          <a:p>
            <a:pPr algn="just">
              <a:spcBef>
                <a:spcPct val="50000"/>
              </a:spcBef>
            </a:pPr>
            <a:r>
              <a:rPr lang="en-US" alt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Nhược điểm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Phức tạp.</a:t>
            </a:r>
          </a:p>
          <a:p>
            <a:pPr algn="just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trường hợp độ phức tạp quan tâm:</a:t>
            </a:r>
          </a:p>
          <a:p>
            <a:pPr lvl="1" algn="just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Trường hợp tốt nhất (phân tích chính xác)</a:t>
            </a:r>
          </a:p>
          <a:p>
            <a:pPr lvl="1" algn="just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hợp xấu nhất (phân tích chính xác)</a:t>
            </a:r>
          </a:p>
          <a:p>
            <a:pPr lvl="1" algn="just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hợp trung bình (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mang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dự đoán)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65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="">
      <p:transition spd="slow">
        <p:split dir="in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lớp độ phức tạp của GT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Rectangle 63"/>
          <p:cNvSpPr txBox="1">
            <a:spLocks noChangeArrowheads="1"/>
          </p:cNvSpPr>
          <p:nvPr/>
        </p:nvSpPr>
        <p:spPr bwMode="gray">
          <a:xfrm>
            <a:off x="538425" y="1481893"/>
            <a:ext cx="8148375" cy="461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ký hiệu BigO </a:t>
            </a:r>
          </a:p>
          <a:p>
            <a:pPr lvl="1"/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Hằng số	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: O(c)</a:t>
            </a:r>
          </a:p>
          <a:p>
            <a:pPr lvl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logN		: O(logN)</a:t>
            </a:r>
          </a:p>
          <a:p>
            <a:pPr lvl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		: O(N)</a:t>
            </a:r>
          </a:p>
          <a:p>
            <a:pPr lvl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		: O(NlogN)</a:t>
            </a:r>
          </a:p>
          <a:p>
            <a:pPr lvl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		: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O(N</a:t>
            </a:r>
            <a:r>
              <a:rPr lang="en-US" alt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4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		: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O(N</a:t>
            </a:r>
            <a:r>
              <a:rPr lang="en-US" alt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4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		: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  <a:p>
            <a:pPr lvl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N!		:O(N!)	</a:t>
            </a:r>
          </a:p>
          <a:p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64"/>
          <p:cNvSpPr>
            <a:spLocks noChangeShapeType="1"/>
          </p:cNvSpPr>
          <p:nvPr/>
        </p:nvSpPr>
        <p:spPr bwMode="auto">
          <a:xfrm>
            <a:off x="4953000" y="2057400"/>
            <a:ext cx="0" cy="3313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" name="Text Box 65"/>
          <p:cNvSpPr txBox="1">
            <a:spLocks noChangeArrowheads="1"/>
          </p:cNvSpPr>
          <p:nvPr/>
        </p:nvSpPr>
        <p:spPr bwMode="auto">
          <a:xfrm>
            <a:off x="5029200" y="3272135"/>
            <a:ext cx="29514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 phức tạp tăng dần</a:t>
            </a:r>
          </a:p>
        </p:txBody>
      </p:sp>
    </p:spTree>
    <p:extLst>
      <p:ext uri="{BB962C8B-B14F-4D97-AF65-F5344CB8AC3E}">
        <p14:creationId xmlns:p14="http://schemas.microsoft.com/office/powerpoint/2010/main" val="3288129069"/>
      </p:ext>
    </p:extLst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6869112" cy="1143000"/>
          </a:xfrm>
        </p:spPr>
        <p:txBody>
          <a:bodyPr/>
          <a:lstStyle/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1.4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trình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837" y="1143000"/>
            <a:ext cx="8229600" cy="4525963"/>
          </a:xfrm>
        </p:spPr>
        <p:txBody>
          <a:bodyPr/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Niklaus Wirth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ctr">
              <a:buNone/>
            </a:pPr>
            <a:r>
              <a:rPr lang="en-US" sz="2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 dữ liệu </a:t>
            </a:r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 </a:t>
            </a:r>
            <a:r>
              <a:rPr lang="en-US" sz="2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 </a:t>
            </a:r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</a:t>
            </a:r>
            <a:r>
              <a:rPr lang="en-US" sz="280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</a:p>
          <a:p>
            <a:pPr marL="0" indent="0" algn="ctr">
              <a:buNone/>
            </a:pPr>
            <a:endParaRPr lang="en-US" sz="280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137" y="2743200"/>
            <a:ext cx="19050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7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381000"/>
            <a:ext cx="6869112" cy="685800"/>
          </a:xfrm>
        </p:spPr>
        <p:txBody>
          <a:bodyPr/>
          <a:lstStyle/>
          <a:p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Tiêu chuẩn của một chương trình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pPr marL="0" indent="0">
              <a:spcBef>
                <a:spcPts val="800"/>
              </a:spcBef>
              <a:buNone/>
            </a:pP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tin cậy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Chạy 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đúng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như dự định, mô tả chính xác một giải thuật đúng.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uyển chuyển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ễ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sửa đổi, giảm bớt công sức của lập trình viên khi phát triển chương trình, đáp ứng các quy trình làm phần mềm.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trong sáng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Chương trình viết ra phải dễ đọc, dễ hiểu. </a:t>
            </a: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800"/>
              </a:spcBef>
              <a:buNone/>
            </a:pP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hữu hiệu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hạy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nhanh và ít tốn tài nguyên bộ 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01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99" name="Group 3"/>
          <p:cNvGrpSpPr>
            <a:grpSpLocks/>
          </p:cNvGrpSpPr>
          <p:nvPr/>
        </p:nvGrpSpPr>
        <p:grpSpPr bwMode="auto">
          <a:xfrm>
            <a:off x="1011238" y="3228975"/>
            <a:ext cx="1041400" cy="1052513"/>
            <a:chOff x="691" y="2077"/>
            <a:chExt cx="656" cy="663"/>
          </a:xfrm>
        </p:grpSpPr>
        <p:pic>
          <p:nvPicPr>
            <p:cNvPr id="80900" name="Picture 4" descr="circuler_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91" y="2077"/>
              <a:ext cx="656" cy="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901" name="Oval 5"/>
            <p:cNvSpPr>
              <a:spLocks noChangeArrowheads="1"/>
            </p:cNvSpPr>
            <p:nvPr/>
          </p:nvSpPr>
          <p:spPr bwMode="gray">
            <a:xfrm>
              <a:off x="691" y="2077"/>
              <a:ext cx="652" cy="66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2353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0902" name="Group 6"/>
            <p:cNvGrpSpPr>
              <a:grpSpLocks/>
            </p:cNvGrpSpPr>
            <p:nvPr/>
          </p:nvGrpSpPr>
          <p:grpSpPr bwMode="auto">
            <a:xfrm>
              <a:off x="737" y="2609"/>
              <a:ext cx="575" cy="110"/>
              <a:chOff x="3704" y="1872"/>
              <a:chExt cx="827" cy="156"/>
            </a:xfrm>
          </p:grpSpPr>
          <p:grpSp>
            <p:nvGrpSpPr>
              <p:cNvPr id="80903" name="Group 7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80904" name="AutoShape 8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5" name="AutoShape 9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6" name="AutoShape 10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7" name="AutoShape 11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08" name="Group 12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80909" name="AutoShape 13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" name="AutoShape 14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1" name="AutoShape 15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2" name="AutoShape 16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80913" name="Group 17"/>
          <p:cNvGrpSpPr>
            <a:grpSpLocks/>
          </p:cNvGrpSpPr>
          <p:nvPr/>
        </p:nvGrpSpPr>
        <p:grpSpPr bwMode="auto">
          <a:xfrm>
            <a:off x="2974975" y="3221038"/>
            <a:ext cx="1041400" cy="1052512"/>
            <a:chOff x="1928" y="2072"/>
            <a:chExt cx="656" cy="663"/>
          </a:xfrm>
        </p:grpSpPr>
        <p:pic>
          <p:nvPicPr>
            <p:cNvPr id="80914" name="Picture 18" descr="circuler_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1928" y="2072"/>
              <a:ext cx="656" cy="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915" name="Oval 19"/>
            <p:cNvSpPr>
              <a:spLocks noChangeArrowheads="1"/>
            </p:cNvSpPr>
            <p:nvPr/>
          </p:nvSpPr>
          <p:spPr bwMode="gray">
            <a:xfrm>
              <a:off x="1928" y="2072"/>
              <a:ext cx="652" cy="663"/>
            </a:xfrm>
            <a:prstGeom prst="ellipse">
              <a:avLst/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2353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0916" name="Group 20"/>
            <p:cNvGrpSpPr>
              <a:grpSpLocks/>
            </p:cNvGrpSpPr>
            <p:nvPr/>
          </p:nvGrpSpPr>
          <p:grpSpPr bwMode="auto">
            <a:xfrm>
              <a:off x="1974" y="2604"/>
              <a:ext cx="575" cy="110"/>
              <a:chOff x="3704" y="1872"/>
              <a:chExt cx="827" cy="156"/>
            </a:xfrm>
          </p:grpSpPr>
          <p:grpSp>
            <p:nvGrpSpPr>
              <p:cNvPr id="80917" name="Group 21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80918" name="AutoShape 22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9" name="AutoShape 23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20" name="AutoShape 24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21" name="AutoShape 25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22" name="Group 26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80923" name="AutoShape 27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24" name="AutoShape 28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25" name="AutoShape 29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26" name="AutoShape 30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80927" name="Group 31"/>
          <p:cNvGrpSpPr>
            <a:grpSpLocks/>
          </p:cNvGrpSpPr>
          <p:nvPr/>
        </p:nvGrpSpPr>
        <p:grpSpPr bwMode="auto">
          <a:xfrm>
            <a:off x="4913313" y="3232150"/>
            <a:ext cx="1041400" cy="1050925"/>
            <a:chOff x="3149" y="2079"/>
            <a:chExt cx="656" cy="662"/>
          </a:xfrm>
        </p:grpSpPr>
        <p:pic>
          <p:nvPicPr>
            <p:cNvPr id="80928" name="Picture 32" descr="circuler_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3149" y="2079"/>
              <a:ext cx="656" cy="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929" name="Oval 33"/>
            <p:cNvSpPr>
              <a:spLocks noChangeArrowheads="1"/>
            </p:cNvSpPr>
            <p:nvPr/>
          </p:nvSpPr>
          <p:spPr bwMode="ltGray">
            <a:xfrm>
              <a:off x="3149" y="2079"/>
              <a:ext cx="652" cy="662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2353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0930" name="Group 34"/>
            <p:cNvGrpSpPr>
              <a:grpSpLocks/>
            </p:cNvGrpSpPr>
            <p:nvPr/>
          </p:nvGrpSpPr>
          <p:grpSpPr bwMode="auto">
            <a:xfrm>
              <a:off x="3195" y="2610"/>
              <a:ext cx="575" cy="111"/>
              <a:chOff x="3704" y="1872"/>
              <a:chExt cx="827" cy="156"/>
            </a:xfrm>
          </p:grpSpPr>
          <p:grpSp>
            <p:nvGrpSpPr>
              <p:cNvPr id="80931" name="Group 35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80932" name="AutoShape 36"/>
                <p:cNvSpPr>
                  <a:spLocks noChangeArrowheads="1"/>
                </p:cNvSpPr>
                <p:nvPr/>
              </p:nvSpPr>
              <p:spPr bwMode="lt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33" name="AutoShape 37"/>
                <p:cNvSpPr>
                  <a:spLocks noChangeArrowheads="1"/>
                </p:cNvSpPr>
                <p:nvPr/>
              </p:nvSpPr>
              <p:spPr bwMode="lt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34" name="AutoShape 38"/>
                <p:cNvSpPr>
                  <a:spLocks noChangeArrowheads="1"/>
                </p:cNvSpPr>
                <p:nvPr/>
              </p:nvSpPr>
              <p:spPr bwMode="lt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35" name="AutoShape 39"/>
                <p:cNvSpPr>
                  <a:spLocks noChangeArrowheads="1"/>
                </p:cNvSpPr>
                <p:nvPr/>
              </p:nvSpPr>
              <p:spPr bwMode="lt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36" name="Group 40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80937" name="AutoShape 41"/>
                <p:cNvSpPr>
                  <a:spLocks noChangeArrowheads="1"/>
                </p:cNvSpPr>
                <p:nvPr/>
              </p:nvSpPr>
              <p:spPr bwMode="lt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38" name="AutoShape 42"/>
                <p:cNvSpPr>
                  <a:spLocks noChangeArrowheads="1"/>
                </p:cNvSpPr>
                <p:nvPr/>
              </p:nvSpPr>
              <p:spPr bwMode="lt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39" name="AutoShape 43"/>
                <p:cNvSpPr>
                  <a:spLocks noChangeArrowheads="1"/>
                </p:cNvSpPr>
                <p:nvPr/>
              </p:nvSpPr>
              <p:spPr bwMode="lt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40" name="AutoShape 44"/>
                <p:cNvSpPr>
                  <a:spLocks noChangeArrowheads="1"/>
                </p:cNvSpPr>
                <p:nvPr/>
              </p:nvSpPr>
              <p:spPr bwMode="lt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80941" name="Group 45"/>
          <p:cNvGrpSpPr>
            <a:grpSpLocks/>
          </p:cNvGrpSpPr>
          <p:nvPr/>
        </p:nvGrpSpPr>
        <p:grpSpPr bwMode="auto">
          <a:xfrm>
            <a:off x="6875463" y="3224213"/>
            <a:ext cx="1041400" cy="1050925"/>
            <a:chOff x="4385" y="2074"/>
            <a:chExt cx="656" cy="662"/>
          </a:xfrm>
        </p:grpSpPr>
        <p:pic>
          <p:nvPicPr>
            <p:cNvPr id="80942" name="Picture 46" descr="circuler_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4385" y="2074"/>
              <a:ext cx="656" cy="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943" name="Oval 47"/>
            <p:cNvSpPr>
              <a:spLocks noChangeArrowheads="1"/>
            </p:cNvSpPr>
            <p:nvPr/>
          </p:nvSpPr>
          <p:spPr bwMode="gray">
            <a:xfrm>
              <a:off x="4385" y="2074"/>
              <a:ext cx="652" cy="662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2353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0944" name="Group 48"/>
            <p:cNvGrpSpPr>
              <a:grpSpLocks/>
            </p:cNvGrpSpPr>
            <p:nvPr/>
          </p:nvGrpSpPr>
          <p:grpSpPr bwMode="auto">
            <a:xfrm>
              <a:off x="4431" y="2605"/>
              <a:ext cx="575" cy="111"/>
              <a:chOff x="3704" y="1872"/>
              <a:chExt cx="827" cy="156"/>
            </a:xfrm>
          </p:grpSpPr>
          <p:grpSp>
            <p:nvGrpSpPr>
              <p:cNvPr id="80945" name="Group 49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80946" name="AutoShape 50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47" name="AutoShape 51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48" name="AutoShape 52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49" name="AutoShape 53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50" name="Group 54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80951" name="AutoShape 55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52" name="AutoShape 56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53" name="AutoShape 57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54" name="AutoShape 58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80955" name="Line 59"/>
          <p:cNvSpPr>
            <a:spLocks noChangeShapeType="1"/>
          </p:cNvSpPr>
          <p:nvPr/>
        </p:nvSpPr>
        <p:spPr bwMode="gray">
          <a:xfrm>
            <a:off x="1527175" y="4376738"/>
            <a:ext cx="0" cy="334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56" name="Line 60"/>
          <p:cNvSpPr>
            <a:spLocks noChangeShapeType="1"/>
          </p:cNvSpPr>
          <p:nvPr/>
        </p:nvSpPr>
        <p:spPr bwMode="gray">
          <a:xfrm flipH="1">
            <a:off x="771525" y="4721225"/>
            <a:ext cx="14954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57" name="Text Box 61"/>
          <p:cNvSpPr txBox="1">
            <a:spLocks noChangeArrowheads="1"/>
          </p:cNvSpPr>
          <p:nvPr/>
        </p:nvSpPr>
        <p:spPr bwMode="gray">
          <a:xfrm>
            <a:off x="658813" y="4775200"/>
            <a:ext cx="2590773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Ý tưởng (Concept)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yêu cầu</a:t>
            </a:r>
          </a:p>
          <a:p>
            <a:pPr eaLnBrk="0" hangingPunct="0">
              <a:lnSpc>
                <a:spcPct val="130000"/>
              </a:lnSpc>
              <a:buClr>
                <a:schemeClr val="hlink"/>
              </a:buClr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(Requirements Specification)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58" name="Text Box 62"/>
          <p:cNvSpPr txBox="1">
            <a:spLocks noChangeArrowheads="1"/>
          </p:cNvSpPr>
          <p:nvPr/>
        </p:nvSpPr>
        <p:spPr bwMode="gray">
          <a:xfrm>
            <a:off x="1057275" y="3562290"/>
            <a:ext cx="10445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0650" indent="-120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 dirty="0" smtClean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 1</a:t>
            </a:r>
            <a:endParaRPr lang="en-US" altLang="en-US" sz="2000" b="1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59" name="Text Box 63"/>
          <p:cNvSpPr txBox="1">
            <a:spLocks noChangeArrowheads="1"/>
          </p:cNvSpPr>
          <p:nvPr/>
        </p:nvSpPr>
        <p:spPr bwMode="gray">
          <a:xfrm>
            <a:off x="2963863" y="3516868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0650" indent="-120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 dirty="0" smtClean="0">
                <a:solidFill>
                  <a:srgbClr val="1C1C1C"/>
                </a:solidFill>
              </a:rPr>
              <a:t>Bước 2</a:t>
            </a:r>
            <a:endParaRPr lang="en-US" altLang="en-US" b="1" dirty="0">
              <a:solidFill>
                <a:srgbClr val="1C1C1C"/>
              </a:solidFill>
            </a:endParaRPr>
          </a:p>
        </p:txBody>
      </p:sp>
      <p:sp>
        <p:nvSpPr>
          <p:cNvPr id="80960" name="Text Box 64"/>
          <p:cNvSpPr txBox="1">
            <a:spLocks noChangeArrowheads="1"/>
          </p:cNvSpPr>
          <p:nvPr/>
        </p:nvSpPr>
        <p:spPr bwMode="gray">
          <a:xfrm>
            <a:off x="4911725" y="3505200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0650" indent="-120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 dirty="0" smtClean="0">
                <a:solidFill>
                  <a:srgbClr val="1C1C1C"/>
                </a:solidFill>
              </a:rPr>
              <a:t>Bước 3</a:t>
            </a:r>
            <a:endParaRPr lang="en-US" altLang="en-US" b="1" dirty="0">
              <a:solidFill>
                <a:srgbClr val="1C1C1C"/>
              </a:solidFill>
            </a:endParaRPr>
          </a:p>
        </p:txBody>
      </p:sp>
      <p:sp>
        <p:nvSpPr>
          <p:cNvPr id="80961" name="Text Box 65"/>
          <p:cNvSpPr txBox="1">
            <a:spLocks noChangeArrowheads="1"/>
          </p:cNvSpPr>
          <p:nvPr/>
        </p:nvSpPr>
        <p:spPr bwMode="gray">
          <a:xfrm>
            <a:off x="6870700" y="3516868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0650" indent="-120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 dirty="0" smtClean="0">
                <a:solidFill>
                  <a:srgbClr val="1C1C1C"/>
                </a:solidFill>
              </a:rPr>
              <a:t>Bước 4</a:t>
            </a:r>
            <a:endParaRPr lang="en-US" altLang="en-US" b="1" dirty="0">
              <a:solidFill>
                <a:srgbClr val="1C1C1C"/>
              </a:solidFill>
            </a:endParaRPr>
          </a:p>
        </p:txBody>
      </p:sp>
      <p:sp>
        <p:nvSpPr>
          <p:cNvPr id="80962" name="Line 66"/>
          <p:cNvSpPr>
            <a:spLocks noChangeShapeType="1"/>
          </p:cNvSpPr>
          <p:nvPr/>
        </p:nvSpPr>
        <p:spPr bwMode="gray">
          <a:xfrm>
            <a:off x="7394575" y="2801938"/>
            <a:ext cx="0" cy="334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63" name="Line 67"/>
          <p:cNvSpPr>
            <a:spLocks noChangeShapeType="1"/>
          </p:cNvSpPr>
          <p:nvPr/>
        </p:nvSpPr>
        <p:spPr bwMode="gray">
          <a:xfrm flipH="1">
            <a:off x="6530975" y="2800350"/>
            <a:ext cx="16319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64" name="Text Box 68"/>
          <p:cNvSpPr txBox="1">
            <a:spLocks noChangeArrowheads="1"/>
          </p:cNvSpPr>
          <p:nvPr/>
        </p:nvSpPr>
        <p:spPr bwMode="gray">
          <a:xfrm>
            <a:off x="6442322" y="1690604"/>
            <a:ext cx="2615953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Vận hành (Operation)</a:t>
            </a:r>
          </a:p>
          <a:p>
            <a:pPr eaLnBrk="0" hangingPunct="0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 dõi (Follow-up)</a:t>
            </a:r>
          </a:p>
          <a:p>
            <a:pPr eaLnBrk="0" hangingPunct="0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Bảo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dưỡng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(Maintenance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US" sz="1600" dirty="0"/>
          </a:p>
        </p:txBody>
      </p:sp>
      <p:sp>
        <p:nvSpPr>
          <p:cNvPr id="80965" name="Line 69"/>
          <p:cNvSpPr>
            <a:spLocks noChangeShapeType="1"/>
          </p:cNvSpPr>
          <p:nvPr/>
        </p:nvSpPr>
        <p:spPr bwMode="gray">
          <a:xfrm>
            <a:off x="3495675" y="2801938"/>
            <a:ext cx="0" cy="334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66" name="Line 70"/>
          <p:cNvSpPr>
            <a:spLocks noChangeShapeType="1"/>
          </p:cNvSpPr>
          <p:nvPr/>
        </p:nvSpPr>
        <p:spPr bwMode="gray">
          <a:xfrm flipH="1">
            <a:off x="2571750" y="2800350"/>
            <a:ext cx="17716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67" name="Text Box 71"/>
          <p:cNvSpPr txBox="1">
            <a:spLocks noChangeArrowheads="1"/>
          </p:cNvSpPr>
          <p:nvPr/>
        </p:nvSpPr>
        <p:spPr bwMode="gray">
          <a:xfrm>
            <a:off x="2505075" y="1966680"/>
            <a:ext cx="2070100" cy="732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Phân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tích (Analysis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0" hangingPunct="0">
              <a:lnSpc>
                <a:spcPct val="13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Thiết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 (Design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US" sz="1600" dirty="0"/>
          </a:p>
        </p:txBody>
      </p:sp>
      <p:sp>
        <p:nvSpPr>
          <p:cNvPr id="80968" name="Line 72"/>
          <p:cNvSpPr>
            <a:spLocks noChangeShapeType="1"/>
          </p:cNvSpPr>
          <p:nvPr/>
        </p:nvSpPr>
        <p:spPr bwMode="gray">
          <a:xfrm>
            <a:off x="5410200" y="4376738"/>
            <a:ext cx="0" cy="334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69" name="Line 73"/>
          <p:cNvSpPr>
            <a:spLocks noChangeShapeType="1"/>
          </p:cNvSpPr>
          <p:nvPr/>
        </p:nvSpPr>
        <p:spPr bwMode="gray">
          <a:xfrm flipH="1">
            <a:off x="4598988" y="4711700"/>
            <a:ext cx="15875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70" name="Text Box 74"/>
          <p:cNvSpPr txBox="1">
            <a:spLocks noChangeArrowheads="1"/>
          </p:cNvSpPr>
          <p:nvPr/>
        </p:nvSpPr>
        <p:spPr bwMode="gray">
          <a:xfrm>
            <a:off x="4486275" y="4775200"/>
            <a:ext cx="2654582" cy="732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Cài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đặt (Implementation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0" hangingPunct="0"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Thử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nghiệm (Testing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971" name="Picture 75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3240088"/>
            <a:ext cx="825500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972" name="Picture 76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3230563"/>
            <a:ext cx="825500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973" name="Picture 77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249613"/>
            <a:ext cx="825500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974" name="Picture 78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350" y="3240088"/>
            <a:ext cx="825500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0975" name="Group 79"/>
          <p:cNvGrpSpPr>
            <a:grpSpLocks/>
          </p:cNvGrpSpPr>
          <p:nvPr/>
        </p:nvGrpSpPr>
        <p:grpSpPr bwMode="auto">
          <a:xfrm>
            <a:off x="228600" y="2978150"/>
            <a:ext cx="8601075" cy="1536700"/>
            <a:chOff x="198" y="2015"/>
            <a:chExt cx="5418" cy="968"/>
          </a:xfrm>
        </p:grpSpPr>
        <p:sp>
          <p:nvSpPr>
            <p:cNvPr id="80976" name="Rectangle 80"/>
            <p:cNvSpPr>
              <a:spLocks noChangeArrowheads="1"/>
            </p:cNvSpPr>
            <p:nvPr/>
          </p:nvSpPr>
          <p:spPr bwMode="ltGray">
            <a:xfrm>
              <a:off x="198" y="2475"/>
              <a:ext cx="426" cy="48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77" name="Rectangle 81"/>
            <p:cNvSpPr>
              <a:spLocks noChangeArrowheads="1"/>
            </p:cNvSpPr>
            <p:nvPr/>
          </p:nvSpPr>
          <p:spPr bwMode="ltGray">
            <a:xfrm>
              <a:off x="5088" y="2488"/>
              <a:ext cx="528" cy="51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78" name="Rectangle 82"/>
            <p:cNvSpPr>
              <a:spLocks noChangeArrowheads="1"/>
            </p:cNvSpPr>
            <p:nvPr/>
          </p:nvSpPr>
          <p:spPr bwMode="ltGray">
            <a:xfrm>
              <a:off x="1383" y="2475"/>
              <a:ext cx="501" cy="47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79" name="Rectangle 83"/>
            <p:cNvSpPr>
              <a:spLocks noChangeArrowheads="1"/>
            </p:cNvSpPr>
            <p:nvPr/>
          </p:nvSpPr>
          <p:spPr bwMode="ltGray">
            <a:xfrm>
              <a:off x="2639" y="2475"/>
              <a:ext cx="457" cy="47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80" name="Rectangle 84"/>
            <p:cNvSpPr>
              <a:spLocks noChangeArrowheads="1"/>
            </p:cNvSpPr>
            <p:nvPr/>
          </p:nvSpPr>
          <p:spPr bwMode="ltGray">
            <a:xfrm>
              <a:off x="3861" y="2475"/>
              <a:ext cx="476" cy="47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81" name="AutoShape 85"/>
            <p:cNvSpPr>
              <a:spLocks noChangeArrowheads="1"/>
            </p:cNvSpPr>
            <p:nvPr/>
          </p:nvSpPr>
          <p:spPr bwMode="ltGray">
            <a:xfrm>
              <a:off x="1839" y="2072"/>
              <a:ext cx="831" cy="911"/>
            </a:xfrm>
            <a:custGeom>
              <a:avLst/>
              <a:gdLst>
                <a:gd name="G0" fmla="+- 9587 0 0"/>
                <a:gd name="G1" fmla="+- -11745567 0 0"/>
                <a:gd name="G2" fmla="+- 0 0 -11745567"/>
                <a:gd name="T0" fmla="*/ 0 256 1"/>
                <a:gd name="T1" fmla="*/ 180 256 1"/>
                <a:gd name="G3" fmla="+- -11745567 T0 T1"/>
                <a:gd name="T2" fmla="*/ 0 256 1"/>
                <a:gd name="T3" fmla="*/ 90 256 1"/>
                <a:gd name="G4" fmla="+- -11745567 T2 T3"/>
                <a:gd name="G5" fmla="*/ G4 2 1"/>
                <a:gd name="T4" fmla="*/ 90 256 1"/>
                <a:gd name="T5" fmla="*/ 0 256 1"/>
                <a:gd name="G6" fmla="+- -11745567 T4 T5"/>
                <a:gd name="G7" fmla="*/ G6 2 1"/>
                <a:gd name="G8" fmla="abs -11745567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9587"/>
                <a:gd name="G18" fmla="*/ 9587 1 2"/>
                <a:gd name="G19" fmla="+- G18 5400 0"/>
                <a:gd name="G20" fmla="cos G19 -11745567"/>
                <a:gd name="G21" fmla="sin G19 -11745567"/>
                <a:gd name="G22" fmla="+- G20 10800 0"/>
                <a:gd name="G23" fmla="+- G21 10800 0"/>
                <a:gd name="G24" fmla="+- 10800 0 G20"/>
                <a:gd name="G25" fmla="+- 9587 10800 0"/>
                <a:gd name="G26" fmla="?: G9 G17 G25"/>
                <a:gd name="G27" fmla="?: G9 0 21600"/>
                <a:gd name="G28" fmla="cos 10800 -11745567"/>
                <a:gd name="G29" fmla="sin 10800 -11745567"/>
                <a:gd name="G30" fmla="sin 9587 -11745567"/>
                <a:gd name="G31" fmla="+- G28 10800 0"/>
                <a:gd name="G32" fmla="+- G29 10800 0"/>
                <a:gd name="G33" fmla="+- G30 10800 0"/>
                <a:gd name="G34" fmla="?: G4 0 G31"/>
                <a:gd name="G35" fmla="?: -11745567 G34 0"/>
                <a:gd name="G36" fmla="?: G6 G35 G31"/>
                <a:gd name="G37" fmla="+- 21600 0 G36"/>
                <a:gd name="G38" fmla="?: G4 0 G33"/>
                <a:gd name="G39" fmla="?: -11745567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606 w 21600"/>
                <a:gd name="T15" fmla="*/ 10661 h 21600"/>
                <a:gd name="T16" fmla="*/ 10800 w 21600"/>
                <a:gd name="T17" fmla="*/ 1213 h 21600"/>
                <a:gd name="T18" fmla="*/ 20994 w 21600"/>
                <a:gd name="T19" fmla="*/ 10661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82" name="AutoShape 86"/>
            <p:cNvSpPr>
              <a:spLocks noChangeArrowheads="1"/>
            </p:cNvSpPr>
            <p:nvPr/>
          </p:nvSpPr>
          <p:spPr bwMode="ltGray">
            <a:xfrm>
              <a:off x="4297" y="2072"/>
              <a:ext cx="831" cy="911"/>
            </a:xfrm>
            <a:custGeom>
              <a:avLst/>
              <a:gdLst>
                <a:gd name="G0" fmla="+- 9587 0 0"/>
                <a:gd name="G1" fmla="+- -11745567 0 0"/>
                <a:gd name="G2" fmla="+- 0 0 -11745567"/>
                <a:gd name="T0" fmla="*/ 0 256 1"/>
                <a:gd name="T1" fmla="*/ 180 256 1"/>
                <a:gd name="G3" fmla="+- -11745567 T0 T1"/>
                <a:gd name="T2" fmla="*/ 0 256 1"/>
                <a:gd name="T3" fmla="*/ 90 256 1"/>
                <a:gd name="G4" fmla="+- -11745567 T2 T3"/>
                <a:gd name="G5" fmla="*/ G4 2 1"/>
                <a:gd name="T4" fmla="*/ 90 256 1"/>
                <a:gd name="T5" fmla="*/ 0 256 1"/>
                <a:gd name="G6" fmla="+- -11745567 T4 T5"/>
                <a:gd name="G7" fmla="*/ G6 2 1"/>
                <a:gd name="G8" fmla="abs -11745567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9587"/>
                <a:gd name="G18" fmla="*/ 9587 1 2"/>
                <a:gd name="G19" fmla="+- G18 5400 0"/>
                <a:gd name="G20" fmla="cos G19 -11745567"/>
                <a:gd name="G21" fmla="sin G19 -11745567"/>
                <a:gd name="G22" fmla="+- G20 10800 0"/>
                <a:gd name="G23" fmla="+- G21 10800 0"/>
                <a:gd name="G24" fmla="+- 10800 0 G20"/>
                <a:gd name="G25" fmla="+- 9587 10800 0"/>
                <a:gd name="G26" fmla="?: G9 G17 G25"/>
                <a:gd name="G27" fmla="?: G9 0 21600"/>
                <a:gd name="G28" fmla="cos 10800 -11745567"/>
                <a:gd name="G29" fmla="sin 10800 -11745567"/>
                <a:gd name="G30" fmla="sin 9587 -11745567"/>
                <a:gd name="G31" fmla="+- G28 10800 0"/>
                <a:gd name="G32" fmla="+- G29 10800 0"/>
                <a:gd name="G33" fmla="+- G30 10800 0"/>
                <a:gd name="G34" fmla="?: G4 0 G31"/>
                <a:gd name="G35" fmla="?: -11745567 G34 0"/>
                <a:gd name="G36" fmla="?: G6 G35 G31"/>
                <a:gd name="G37" fmla="+- 21600 0 G36"/>
                <a:gd name="G38" fmla="?: G4 0 G33"/>
                <a:gd name="G39" fmla="?: -11745567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606 w 21600"/>
                <a:gd name="T15" fmla="*/ 10661 h 21600"/>
                <a:gd name="T16" fmla="*/ 10800 w 21600"/>
                <a:gd name="T17" fmla="*/ 1213 h 21600"/>
                <a:gd name="T18" fmla="*/ 20994 w 21600"/>
                <a:gd name="T19" fmla="*/ 10661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83" name="AutoShape 87"/>
            <p:cNvSpPr>
              <a:spLocks noChangeArrowheads="1"/>
            </p:cNvSpPr>
            <p:nvPr/>
          </p:nvSpPr>
          <p:spPr bwMode="ltGray">
            <a:xfrm flipV="1">
              <a:off x="603" y="2015"/>
              <a:ext cx="831" cy="911"/>
            </a:xfrm>
            <a:custGeom>
              <a:avLst/>
              <a:gdLst>
                <a:gd name="G0" fmla="+- 9587 0 0"/>
                <a:gd name="G1" fmla="+- -11745567 0 0"/>
                <a:gd name="G2" fmla="+- 0 0 -11745567"/>
                <a:gd name="T0" fmla="*/ 0 256 1"/>
                <a:gd name="T1" fmla="*/ 180 256 1"/>
                <a:gd name="G3" fmla="+- -11745567 T0 T1"/>
                <a:gd name="T2" fmla="*/ 0 256 1"/>
                <a:gd name="T3" fmla="*/ 90 256 1"/>
                <a:gd name="G4" fmla="+- -11745567 T2 T3"/>
                <a:gd name="G5" fmla="*/ G4 2 1"/>
                <a:gd name="T4" fmla="*/ 90 256 1"/>
                <a:gd name="T5" fmla="*/ 0 256 1"/>
                <a:gd name="G6" fmla="+- -11745567 T4 T5"/>
                <a:gd name="G7" fmla="*/ G6 2 1"/>
                <a:gd name="G8" fmla="abs -11745567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9587"/>
                <a:gd name="G18" fmla="*/ 9587 1 2"/>
                <a:gd name="G19" fmla="+- G18 5400 0"/>
                <a:gd name="G20" fmla="cos G19 -11745567"/>
                <a:gd name="G21" fmla="sin G19 -11745567"/>
                <a:gd name="G22" fmla="+- G20 10800 0"/>
                <a:gd name="G23" fmla="+- G21 10800 0"/>
                <a:gd name="G24" fmla="+- 10800 0 G20"/>
                <a:gd name="G25" fmla="+- 9587 10800 0"/>
                <a:gd name="G26" fmla="?: G9 G17 G25"/>
                <a:gd name="G27" fmla="?: G9 0 21600"/>
                <a:gd name="G28" fmla="cos 10800 -11745567"/>
                <a:gd name="G29" fmla="sin 10800 -11745567"/>
                <a:gd name="G30" fmla="sin 9587 -11745567"/>
                <a:gd name="G31" fmla="+- G28 10800 0"/>
                <a:gd name="G32" fmla="+- G29 10800 0"/>
                <a:gd name="G33" fmla="+- G30 10800 0"/>
                <a:gd name="G34" fmla="?: G4 0 G31"/>
                <a:gd name="G35" fmla="?: -11745567 G34 0"/>
                <a:gd name="G36" fmla="?: G6 G35 G31"/>
                <a:gd name="G37" fmla="+- 21600 0 G36"/>
                <a:gd name="G38" fmla="?: G4 0 G33"/>
                <a:gd name="G39" fmla="?: -11745567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606 w 21600"/>
                <a:gd name="T15" fmla="*/ 10661 h 21600"/>
                <a:gd name="T16" fmla="*/ 10800 w 21600"/>
                <a:gd name="T17" fmla="*/ 1213 h 21600"/>
                <a:gd name="T18" fmla="*/ 20994 w 21600"/>
                <a:gd name="T19" fmla="*/ 10661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84" name="AutoShape 88"/>
            <p:cNvSpPr>
              <a:spLocks noChangeArrowheads="1"/>
            </p:cNvSpPr>
            <p:nvPr/>
          </p:nvSpPr>
          <p:spPr bwMode="ltGray">
            <a:xfrm flipV="1">
              <a:off x="3063" y="2015"/>
              <a:ext cx="831" cy="911"/>
            </a:xfrm>
            <a:custGeom>
              <a:avLst/>
              <a:gdLst>
                <a:gd name="G0" fmla="+- 9587 0 0"/>
                <a:gd name="G1" fmla="+- -11745567 0 0"/>
                <a:gd name="G2" fmla="+- 0 0 -11745567"/>
                <a:gd name="T0" fmla="*/ 0 256 1"/>
                <a:gd name="T1" fmla="*/ 180 256 1"/>
                <a:gd name="G3" fmla="+- -11745567 T0 T1"/>
                <a:gd name="T2" fmla="*/ 0 256 1"/>
                <a:gd name="T3" fmla="*/ 90 256 1"/>
                <a:gd name="G4" fmla="+- -11745567 T2 T3"/>
                <a:gd name="G5" fmla="*/ G4 2 1"/>
                <a:gd name="T4" fmla="*/ 90 256 1"/>
                <a:gd name="T5" fmla="*/ 0 256 1"/>
                <a:gd name="G6" fmla="+- -11745567 T4 T5"/>
                <a:gd name="G7" fmla="*/ G6 2 1"/>
                <a:gd name="G8" fmla="abs -11745567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9587"/>
                <a:gd name="G18" fmla="*/ 9587 1 2"/>
                <a:gd name="G19" fmla="+- G18 5400 0"/>
                <a:gd name="G20" fmla="cos G19 -11745567"/>
                <a:gd name="G21" fmla="sin G19 -11745567"/>
                <a:gd name="G22" fmla="+- G20 10800 0"/>
                <a:gd name="G23" fmla="+- G21 10800 0"/>
                <a:gd name="G24" fmla="+- 10800 0 G20"/>
                <a:gd name="G25" fmla="+- 9587 10800 0"/>
                <a:gd name="G26" fmla="?: G9 G17 G25"/>
                <a:gd name="G27" fmla="?: G9 0 21600"/>
                <a:gd name="G28" fmla="cos 10800 -11745567"/>
                <a:gd name="G29" fmla="sin 10800 -11745567"/>
                <a:gd name="G30" fmla="sin 9587 -11745567"/>
                <a:gd name="G31" fmla="+- G28 10800 0"/>
                <a:gd name="G32" fmla="+- G29 10800 0"/>
                <a:gd name="G33" fmla="+- G30 10800 0"/>
                <a:gd name="G34" fmla="?: G4 0 G31"/>
                <a:gd name="G35" fmla="?: -11745567 G34 0"/>
                <a:gd name="G36" fmla="?: G6 G35 G31"/>
                <a:gd name="G37" fmla="+- 21600 0 G36"/>
                <a:gd name="G38" fmla="?: G4 0 G33"/>
                <a:gd name="G39" fmla="?: -11745567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606 w 21600"/>
                <a:gd name="T15" fmla="*/ 10661 h 21600"/>
                <a:gd name="T16" fmla="*/ 10800 w 21600"/>
                <a:gd name="T17" fmla="*/ 1213 h 21600"/>
                <a:gd name="T18" fmla="*/ 20994 w 21600"/>
                <a:gd name="T19" fmla="*/ 10661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91" name="Title 1"/>
          <p:cNvSpPr txBox="1">
            <a:spLocks/>
          </p:cNvSpPr>
          <p:nvPr/>
        </p:nvSpPr>
        <p:spPr bwMode="gray">
          <a:xfrm>
            <a:off x="841888" y="152400"/>
            <a:ext cx="686911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Quy trình làm phần mềm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D47E-C029-4974-8E90-7A6D993626E2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91" name="Title 1"/>
          <p:cNvSpPr txBox="1">
            <a:spLocks/>
          </p:cNvSpPr>
          <p:nvPr/>
        </p:nvSpPr>
        <p:spPr bwMode="gray">
          <a:xfrm>
            <a:off x="841888" y="152400"/>
            <a:ext cx="686911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Bài tập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92088" y="1447800"/>
                <a:ext cx="8294712" cy="2016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Trình bày giải thuật giải các bài toán sau</a:t>
                </a:r>
                <a:r>
                  <a:rPr lang="en-US" sz="280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marR="0" lvl="0" indent="-3429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US" sz="280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Tìm </a:t>
                </a:r>
                <a:r>
                  <a:rPr lang="en-US" sz="28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bội chung nhỏ nhất của 2 số nguyên dương</a:t>
                </a:r>
              </a:p>
              <a:p>
                <a:pPr marL="342900" marR="0" lvl="0" indent="-3429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US" sz="2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Giải phương trình bậc hai: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ax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bx</m:t>
                    </m:r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0</m:t>
                    </m:r>
                  </m:oMath>
                </a14:m>
                <a:endParaRPr lang="en-US" sz="2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Tìm phần tử thứ n của dãy Fibonacci</a:t>
                </a:r>
                <a:endParaRPr lang="en-US" sz="2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88" y="1447800"/>
                <a:ext cx="8294712" cy="2016771"/>
              </a:xfrm>
              <a:prstGeom prst="rect">
                <a:avLst/>
              </a:prstGeom>
              <a:blipFill>
                <a:blip r:embed="rId2"/>
                <a:stretch>
                  <a:fillRect l="-1470" t="-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7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48200" y="3787775"/>
            <a:ext cx="4110038" cy="885825"/>
          </a:xfrm>
        </p:spPr>
        <p:txBody>
          <a:bodyPr/>
          <a:lstStyle/>
          <a:p>
            <a:pPr algn="dist"/>
            <a:r>
              <a:rPr lang="en-US" altLang="en-US" sz="5500" dirty="0"/>
              <a:t>Thank You!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17F7427-C84F-4D27-922E-55D885048A2A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5715000" y="5029200"/>
            <a:ext cx="3043238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 dir="in"/>
      </p:transition>
    </mc:Choice>
    <mc:Fallback xmlns="">
      <p:transition spd="slow">
        <p:zoom dir="in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B4E3EE"/>
      </a:lt1>
      <a:dk2>
        <a:srgbClr val="189180"/>
      </a:dk2>
      <a:lt2>
        <a:srgbClr val="808080"/>
      </a:lt2>
      <a:accent1>
        <a:srgbClr val="FF7F00"/>
      </a:accent1>
      <a:accent2>
        <a:srgbClr val="B3DC27"/>
      </a:accent2>
      <a:accent3>
        <a:srgbClr val="D6EFF5"/>
      </a:accent3>
      <a:accent4>
        <a:srgbClr val="000000"/>
      </a:accent4>
      <a:accent5>
        <a:srgbClr val="FFC0AA"/>
      </a:accent5>
      <a:accent6>
        <a:srgbClr val="A2C722"/>
      </a:accent6>
      <a:hlink>
        <a:srgbClr val="6FB9D7"/>
      </a:hlink>
      <a:folHlink>
        <a:srgbClr val="F93D17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B4E3EE"/>
        </a:lt1>
        <a:dk2>
          <a:srgbClr val="189180"/>
        </a:dk2>
        <a:lt2>
          <a:srgbClr val="808080"/>
        </a:lt2>
        <a:accent1>
          <a:srgbClr val="FF7F00"/>
        </a:accent1>
        <a:accent2>
          <a:srgbClr val="B3DC27"/>
        </a:accent2>
        <a:accent3>
          <a:srgbClr val="D6EFF5"/>
        </a:accent3>
        <a:accent4>
          <a:srgbClr val="000000"/>
        </a:accent4>
        <a:accent5>
          <a:srgbClr val="FFC0AA"/>
        </a:accent5>
        <a:accent6>
          <a:srgbClr val="A2C722"/>
        </a:accent6>
        <a:hlink>
          <a:srgbClr val="6FB9D7"/>
        </a:hlink>
        <a:folHlink>
          <a:srgbClr val="F93D1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EE384"/>
        </a:lt1>
        <a:dk2>
          <a:srgbClr val="FD8334"/>
        </a:dk2>
        <a:lt2>
          <a:srgbClr val="808080"/>
        </a:lt2>
        <a:accent1>
          <a:srgbClr val="F98EB2"/>
        </a:accent1>
        <a:accent2>
          <a:srgbClr val="FCB43E"/>
        </a:accent2>
        <a:accent3>
          <a:srgbClr val="FEEFC2"/>
        </a:accent3>
        <a:accent4>
          <a:srgbClr val="000000"/>
        </a:accent4>
        <a:accent5>
          <a:srgbClr val="FBC6D5"/>
        </a:accent5>
        <a:accent6>
          <a:srgbClr val="E4A337"/>
        </a:accent6>
        <a:hlink>
          <a:srgbClr val="FA6D73"/>
        </a:hlink>
        <a:folHlink>
          <a:srgbClr val="D264C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4E1EE"/>
        </a:lt1>
        <a:dk2>
          <a:srgbClr val="2F84AF"/>
        </a:dk2>
        <a:lt2>
          <a:srgbClr val="808080"/>
        </a:lt2>
        <a:accent1>
          <a:srgbClr val="9899C1"/>
        </a:accent1>
        <a:accent2>
          <a:srgbClr val="4BBAC3"/>
        </a:accent2>
        <a:accent3>
          <a:srgbClr val="E6EEF5"/>
        </a:accent3>
        <a:accent4>
          <a:srgbClr val="000000"/>
        </a:accent4>
        <a:accent5>
          <a:srgbClr val="CACADD"/>
        </a:accent5>
        <a:accent6>
          <a:srgbClr val="43A8B0"/>
        </a:accent6>
        <a:hlink>
          <a:srgbClr val="7AC5B9"/>
        </a:hlink>
        <a:folHlink>
          <a:srgbClr val="719F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576TGp_report_light</Template>
  <TotalTime>2445</TotalTime>
  <Words>1231</Words>
  <Application>Microsoft Office PowerPoint</Application>
  <PresentationFormat>On-screen Show (4:3)</PresentationFormat>
  <Paragraphs>175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Black</vt:lpstr>
      <vt:lpstr>Calibri</vt:lpstr>
      <vt:lpstr>Cambria Math</vt:lpstr>
      <vt:lpstr>Times New Roman</vt:lpstr>
      <vt:lpstr>Wingdings</vt:lpstr>
      <vt:lpstr>Default Design</vt:lpstr>
      <vt:lpstr>PowerPoint Presentation</vt:lpstr>
      <vt:lpstr>Thông tin chung</vt:lpstr>
      <vt:lpstr>Nội dung học phần</vt:lpstr>
      <vt:lpstr>PowerPoint Presentation</vt:lpstr>
      <vt:lpstr>Nội dung chính</vt:lpstr>
      <vt:lpstr>1.1 Mô hình hóa bài toán thực tế</vt:lpstr>
      <vt:lpstr>1.2 Cấu trúc dữ liệu</vt:lpstr>
      <vt:lpstr>Vai trò của việc lựa chọn CTDL</vt:lpstr>
      <vt:lpstr>PowerPoint Presentation</vt:lpstr>
      <vt:lpstr>Phân loại cấu trúc dữ liệu</vt:lpstr>
      <vt:lpstr>1.3 Giải thuật</vt:lpstr>
      <vt:lpstr>Khái niệm thuật toán</vt:lpstr>
      <vt:lpstr>Tính chất của thuật toán</vt:lpstr>
      <vt:lpstr>Biểu diễn giải thuật</vt:lpstr>
      <vt:lpstr>Đánh giá độ phức tạp của thuật toán</vt:lpstr>
      <vt:lpstr>Đánh giá độ phức tạp của thuật toán</vt:lpstr>
      <vt:lpstr>Phương pháp thực nghiệm</vt:lpstr>
      <vt:lpstr>Phương pháp xấp xỉ toán học</vt:lpstr>
      <vt:lpstr>Phân lớp độ phức tạp của GT</vt:lpstr>
      <vt:lpstr>1.4 Chương trình</vt:lpstr>
      <vt:lpstr>Tiêu chuẩn của một chương trình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BuiVan Thuong</dc:creator>
  <cp:lastModifiedBy>Nguyen Huy</cp:lastModifiedBy>
  <cp:revision>56</cp:revision>
  <dcterms:created xsi:type="dcterms:W3CDTF">2014-09-19T04:24:28Z</dcterms:created>
  <dcterms:modified xsi:type="dcterms:W3CDTF">2021-09-08T07:42:29Z</dcterms:modified>
</cp:coreProperties>
</file>